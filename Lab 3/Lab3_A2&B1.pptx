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0" roundtripDataSignature="AMtx7mjpTEFSycBJqMH9SiAqI25SBVPqr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28A6E30-834D-4FA5-9B9A-895B26403CD7}">
  <a:tblStyle styleId="{628A6E30-834D-4FA5-9B9A-895B26403CD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fill>
          <a:solidFill>
            <a:srgbClr val="CDD4EA"/>
          </a:solidFill>
        </a:fill>
      </a:tcStyle>
    </a:band1H>
    <a:band2H>
      <a:tcTxStyle/>
    </a:band2H>
    <a:band1V>
      <a:tcTxStyle/>
      <a:tcStyle>
        <a:fill>
          <a:solidFill>
            <a:srgbClr val="CDD4EA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customschemas.google.com/relationships/presentationmetadata" Target="meta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3" name="Google Shape;163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4" name="Google Shape;16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5" name="Google Shape;175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6" name="Google Shape;17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7"/>
          <p:cNvSpPr txBox="1"/>
          <p:nvPr>
            <p:ph type="title"/>
          </p:nvPr>
        </p:nvSpPr>
        <p:spPr>
          <a:xfrm>
            <a:off x="838200" y="365125"/>
            <a:ext cx="10515600" cy="647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4400"/>
              <a:buFont typeface="Times New Roman"/>
              <a:buNone/>
              <a:defRPr b="1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7"/>
          <p:cNvSpPr txBox="1"/>
          <p:nvPr>
            <p:ph idx="1" type="body"/>
          </p:nvPr>
        </p:nvSpPr>
        <p:spPr>
          <a:xfrm>
            <a:off x="838200" y="1201271"/>
            <a:ext cx="10515600" cy="49756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" name="Google Shape;27;p37"/>
          <p:cNvSpPr/>
          <p:nvPr/>
        </p:nvSpPr>
        <p:spPr>
          <a:xfrm>
            <a:off x="775447" y="1013012"/>
            <a:ext cx="10578353" cy="124433"/>
          </a:xfrm>
          <a:prstGeom prst="rect">
            <a:avLst/>
          </a:prstGeom>
          <a:gradFill>
            <a:gsLst>
              <a:gs pos="0">
                <a:srgbClr val="F5F7FC"/>
              </a:gs>
              <a:gs pos="74000">
                <a:srgbClr val="2F5496"/>
              </a:gs>
              <a:gs pos="83000">
                <a:srgbClr val="1F3864"/>
              </a:gs>
              <a:gs pos="100000">
                <a:srgbClr val="1F3864"/>
              </a:gs>
            </a:gsLst>
            <a:lin ang="10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9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9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6" name="Google Shape;36;p3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3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40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40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4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4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4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41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1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41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41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1" name="Google Shape;51;p41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4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4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4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4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4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4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4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4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4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44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44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4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4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45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4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4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6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46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4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4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4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3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9" Type="http://schemas.openxmlformats.org/officeDocument/2006/relationships/image" Target="../media/image15.png"/><Relationship Id="rId5" Type="http://schemas.openxmlformats.org/officeDocument/2006/relationships/image" Target="../media/image14.png"/><Relationship Id="rId6" Type="http://schemas.openxmlformats.org/officeDocument/2006/relationships/image" Target="../media/image6.png"/><Relationship Id="rId7" Type="http://schemas.openxmlformats.org/officeDocument/2006/relationships/image" Target="../media/image17.png"/><Relationship Id="rId8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17.png"/><Relationship Id="rId6" Type="http://schemas.openxmlformats.org/officeDocument/2006/relationships/image" Target="../media/image7.png"/><Relationship Id="rId7" Type="http://schemas.openxmlformats.org/officeDocument/2006/relationships/image" Target="../media/image15.png"/><Relationship Id="rId8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0.png"/><Relationship Id="rId4" Type="http://schemas.openxmlformats.org/officeDocument/2006/relationships/image" Target="../media/image8.png"/><Relationship Id="rId5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2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4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3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Relationship Id="rId4" Type="http://schemas.openxmlformats.org/officeDocument/2006/relationships/image" Target="../media/image4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2.png"/><Relationship Id="rId4" Type="http://schemas.openxmlformats.org/officeDocument/2006/relationships/image" Target="../media/image3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9.png"/><Relationship Id="rId4" Type="http://schemas.openxmlformats.org/officeDocument/2006/relationships/image" Target="../media/image21.jpg"/><Relationship Id="rId5" Type="http://schemas.openxmlformats.org/officeDocument/2006/relationships/image" Target="../media/image28.jpg"/><Relationship Id="rId6" Type="http://schemas.openxmlformats.org/officeDocument/2006/relationships/image" Target="../media/image46.jpg"/><Relationship Id="rId7" Type="http://schemas.openxmlformats.org/officeDocument/2006/relationships/image" Target="../media/image35.jpg"/><Relationship Id="rId8" Type="http://schemas.openxmlformats.org/officeDocument/2006/relationships/image" Target="../media/image29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7.png"/><Relationship Id="rId4" Type="http://schemas.openxmlformats.org/officeDocument/2006/relationships/image" Target="../media/image2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2.jpg"/><Relationship Id="rId4" Type="http://schemas.openxmlformats.org/officeDocument/2006/relationships/image" Target="../media/image37.jpg"/><Relationship Id="rId5" Type="http://schemas.openxmlformats.org/officeDocument/2006/relationships/image" Target="../media/image39.png"/><Relationship Id="rId6" Type="http://schemas.openxmlformats.org/officeDocument/2006/relationships/image" Target="../media/image43.jpg"/><Relationship Id="rId7" Type="http://schemas.openxmlformats.org/officeDocument/2006/relationships/image" Target="../media/image33.jpg"/><Relationship Id="rId8" Type="http://schemas.openxmlformats.org/officeDocument/2006/relationships/image" Target="../media/image32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2.jpg"/><Relationship Id="rId4" Type="http://schemas.openxmlformats.org/officeDocument/2006/relationships/image" Target="../media/image48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9.png"/><Relationship Id="rId4" Type="http://schemas.openxmlformats.org/officeDocument/2006/relationships/image" Target="../media/image4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8.png"/><Relationship Id="rId4" Type="http://schemas.openxmlformats.org/officeDocument/2006/relationships/image" Target="../media/image3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50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6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57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hyperlink" Target="https://github.com/Grzetan/ImageToFourierSeries" TargetMode="External"/><Relationship Id="rId4" Type="http://schemas.openxmlformats.org/officeDocument/2006/relationships/hyperlink" Target="https://contra.medium.com/drawing-anything-with-fourier-series-using-blender-and-python-c0881e1b738c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/>
        </p:nvSpPr>
        <p:spPr>
          <a:xfrm>
            <a:off x="1524000" y="781704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4400"/>
              <a:buFont typeface="Times New Roman"/>
              <a:buNone/>
            </a:pPr>
            <a:r>
              <a:rPr b="0" i="0" lang="en-US" sz="4400" u="none" cap="none" strike="noStrike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CSE 4102</a:t>
            </a:r>
            <a:br>
              <a:rPr b="0" i="0" lang="en-US" sz="4400" u="none" cap="none" strike="noStrike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3200" u="none" cap="none" strike="noStrike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Computer Graphics and Image Processing Laboratory</a:t>
            </a:r>
            <a:br>
              <a:rPr b="0" i="0" lang="en-US" sz="3200" u="none" cap="none" strike="noStrike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0" i="0" lang="en-US" sz="2400" u="none" cap="none" strike="noStrike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400" u="sng" cap="none" strike="noStrike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Week 3: Image Restoration</a:t>
            </a:r>
            <a:endParaRPr/>
          </a:p>
        </p:txBody>
      </p:sp>
      <p:sp>
        <p:nvSpPr>
          <p:cNvPr id="90" name="Google Shape;90;p1"/>
          <p:cNvSpPr txBox="1"/>
          <p:nvPr/>
        </p:nvSpPr>
        <p:spPr>
          <a:xfrm>
            <a:off x="1180668" y="4162662"/>
            <a:ext cx="2849626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Md Tajmilur Rahman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Lecturer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Dept. of CSE, KUET</a:t>
            </a:r>
            <a:endParaRPr/>
          </a:p>
        </p:txBody>
      </p:sp>
      <p:sp>
        <p:nvSpPr>
          <p:cNvPr id="91" name="Google Shape;91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2" name="Google Shape;92;p1"/>
          <p:cNvSpPr txBox="1"/>
          <p:nvPr/>
        </p:nvSpPr>
        <p:spPr>
          <a:xfrm>
            <a:off x="7439269" y="4332990"/>
            <a:ext cx="3679469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Md Mubtashim Abrar Nihal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Lecturer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Dept. of CSE, KUET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 txBox="1"/>
          <p:nvPr>
            <p:ph type="title"/>
          </p:nvPr>
        </p:nvSpPr>
        <p:spPr>
          <a:xfrm>
            <a:off x="838200" y="365125"/>
            <a:ext cx="10515600" cy="647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ct val="100000"/>
              <a:buFont typeface="Times New Roman"/>
              <a:buNone/>
            </a:pPr>
            <a:r>
              <a:rPr lang="en-US"/>
              <a:t>What We are Going to Do Today?</a:t>
            </a:r>
            <a:endParaRPr/>
          </a:p>
        </p:txBody>
      </p:sp>
      <p:sp>
        <p:nvSpPr>
          <p:cNvPr id="98" name="Google Shape;98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https://lh6.googleusercontent.com/rBNcKv1Jt3jklQpHAxIJeUe9XSwkwATeILnRWGRhqO-1axwYjgRjuITnt3hw0uXbJNilfav9zvKuz_-U8OFWXmHFxHVW_UOOJqCIybOZJqM3RA-GdkIHirrSv_t14jG5uoaI5VepQhvyIuioN-ekUg=s2048" id="99" name="Google Shape;99;p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0308" y="1211147"/>
            <a:ext cx="2663174" cy="542180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lh5.googleusercontent.com/YInDKsG0BIdRJ3CAl0jItZBSDAM0npl1zvp2JWr251VqpDK93F1GUUYFemTjf0amGXEpih1u5D6T6yNvjP_1nLn2Qv2IiVpeOmX-3cAhMS5bSglQEAznysM57mIcOYL3INGxviqGCse6pxDhiX1eIQ=s2048" id="100" name="Google Shape;100;p2"/>
          <p:cNvPicPr preferRelativeResize="0"/>
          <p:nvPr/>
        </p:nvPicPr>
        <p:blipFill rotWithShape="1">
          <a:blip r:embed="rId4">
            <a:alphaModFix/>
          </a:blip>
          <a:srcRect b="0" l="48957" r="0" t="0"/>
          <a:stretch/>
        </p:blipFill>
        <p:spPr>
          <a:xfrm>
            <a:off x="8508162" y="1167238"/>
            <a:ext cx="2743200" cy="5509622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2"/>
          <p:cNvSpPr txBox="1"/>
          <p:nvPr/>
        </p:nvSpPr>
        <p:spPr>
          <a:xfrm>
            <a:off x="4164433" y="1741890"/>
            <a:ext cx="3612777" cy="4524315"/>
          </a:xfrm>
          <a:prstGeom prst="rect">
            <a:avLst/>
          </a:prstGeom>
          <a:solidFill>
            <a:srgbClr val="F7CAAC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Transform the image from spatial domain to frequency domain</a:t>
            </a:r>
            <a:endParaRPr/>
          </a:p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 the frequency of the periodic noise </a:t>
            </a:r>
            <a:endParaRPr/>
          </a:p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Remove that frequency</a:t>
            </a:r>
            <a:endParaRPr/>
          </a:p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Reconstruct the image from frequency domain to spatial domain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Examples</a:t>
            </a:r>
            <a:endParaRPr/>
          </a:p>
        </p:txBody>
      </p:sp>
      <p:grpSp>
        <p:nvGrpSpPr>
          <p:cNvPr id="107" name="Google Shape;107;p3"/>
          <p:cNvGrpSpPr/>
          <p:nvPr/>
        </p:nvGrpSpPr>
        <p:grpSpPr>
          <a:xfrm>
            <a:off x="1956273" y="1454107"/>
            <a:ext cx="8826029" cy="4546645"/>
            <a:chOff x="1373386" y="1921847"/>
            <a:chExt cx="7499152" cy="3863117"/>
          </a:xfrm>
        </p:grpSpPr>
        <p:pic>
          <p:nvPicPr>
            <p:cNvPr descr="droppedImage.pdf" id="108" name="Google Shape;108;p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131517" y="2332473"/>
              <a:ext cx="1526977" cy="130332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droppedImage.tiff" id="109" name="Google Shape;109;p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091332" y="3912733"/>
              <a:ext cx="1607345" cy="160734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10" name="Google Shape;110;p3"/>
            <p:cNvGrpSpPr/>
            <p:nvPr/>
          </p:nvGrpSpPr>
          <p:grpSpPr>
            <a:xfrm>
              <a:off x="1446054" y="1921847"/>
              <a:ext cx="6251892" cy="239304"/>
              <a:chOff x="1922225" y="1419460"/>
              <a:chExt cx="8335856" cy="319072"/>
            </a:xfrm>
          </p:grpSpPr>
          <p:sp>
            <p:nvSpPr>
              <p:cNvPr id="111" name="Google Shape;111;p3"/>
              <p:cNvSpPr txBox="1"/>
              <p:nvPr/>
            </p:nvSpPr>
            <p:spPr>
              <a:xfrm>
                <a:off x="1922225" y="1419460"/>
                <a:ext cx="3875973" cy="3190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300" lIns="2300" spcFirstLastPara="1" rIns="2300" wrap="square" tIns="23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Spatial domain visualization</a:t>
                </a:r>
                <a:endParaRPr/>
              </a:p>
            </p:txBody>
          </p:sp>
          <p:sp>
            <p:nvSpPr>
              <p:cNvPr id="112" name="Google Shape;112;p3"/>
              <p:cNvSpPr txBox="1"/>
              <p:nvPr/>
            </p:nvSpPr>
            <p:spPr>
              <a:xfrm>
                <a:off x="5798198" y="1419460"/>
                <a:ext cx="4459883" cy="3190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300" lIns="2300" spcFirstLastPara="1" rIns="2300" wrap="square" tIns="23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Frequency domain visualization</a:t>
                </a:r>
                <a:endParaRPr/>
              </a:p>
            </p:txBody>
          </p:sp>
        </p:grpSp>
        <p:sp>
          <p:nvSpPr>
            <p:cNvPr id="113" name="Google Shape;113;p3"/>
            <p:cNvSpPr txBox="1"/>
            <p:nvPr/>
          </p:nvSpPr>
          <p:spPr>
            <a:xfrm>
              <a:off x="1373386" y="2864486"/>
              <a:ext cx="476846" cy="2393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300" lIns="2300" spcFirstLastPara="1" rIns="2300" wrap="square" tIns="23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1D</a:t>
              </a:r>
              <a:endParaRPr/>
            </a:p>
          </p:txBody>
        </p:sp>
        <p:sp>
          <p:nvSpPr>
            <p:cNvPr id="114" name="Google Shape;114;p3"/>
            <p:cNvSpPr txBox="1"/>
            <p:nvPr/>
          </p:nvSpPr>
          <p:spPr>
            <a:xfrm>
              <a:off x="1373386" y="4596754"/>
              <a:ext cx="476846" cy="2393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300" lIns="2300" spcFirstLastPara="1" rIns="2300" wrap="square" tIns="23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2D</a:t>
              </a:r>
              <a:endParaRPr/>
            </a:p>
          </p:txBody>
        </p:sp>
        <p:grpSp>
          <p:nvGrpSpPr>
            <p:cNvPr id="115" name="Google Shape;115;p3"/>
            <p:cNvGrpSpPr/>
            <p:nvPr/>
          </p:nvGrpSpPr>
          <p:grpSpPr>
            <a:xfrm>
              <a:off x="4915331" y="2315070"/>
              <a:ext cx="2220314" cy="1338136"/>
              <a:chOff x="6538140" y="1950540"/>
              <a:chExt cx="2960418" cy="1784181"/>
            </a:xfrm>
          </p:grpSpPr>
          <p:cxnSp>
            <p:nvCxnSpPr>
              <p:cNvPr id="116" name="Google Shape;116;p3"/>
              <p:cNvCxnSpPr/>
              <p:nvPr/>
            </p:nvCxnSpPr>
            <p:spPr>
              <a:xfrm>
                <a:off x="6538140" y="3727577"/>
                <a:ext cx="2960418" cy="1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4000"/>
                <a:headEnd len="sm" w="sm" type="none"/>
                <a:tailEnd len="med" w="med" type="triangle"/>
              </a:ln>
            </p:spPr>
          </p:cxnSp>
          <p:cxnSp>
            <p:nvCxnSpPr>
              <p:cNvPr id="117" name="Google Shape;117;p3"/>
              <p:cNvCxnSpPr/>
              <p:nvPr/>
            </p:nvCxnSpPr>
            <p:spPr>
              <a:xfrm flipH="1" rot="10800000">
                <a:off x="6548189" y="1950540"/>
                <a:ext cx="1" cy="1784181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4000"/>
                <a:headEnd len="sm" w="sm" type="none"/>
                <a:tailEnd len="med" w="med" type="triangle"/>
              </a:ln>
            </p:spPr>
          </p:cxnSp>
          <p:cxnSp>
            <p:nvCxnSpPr>
              <p:cNvPr id="118" name="Google Shape;118;p3"/>
              <p:cNvCxnSpPr/>
              <p:nvPr/>
            </p:nvCxnSpPr>
            <p:spPr>
              <a:xfrm>
                <a:off x="7133977" y="1970214"/>
                <a:ext cx="0" cy="1753519"/>
              </a:xfrm>
              <a:prstGeom prst="straightConnector1">
                <a:avLst/>
              </a:prstGeom>
              <a:noFill/>
              <a:ln cap="flat" cmpd="sng" w="50800">
                <a:solidFill>
                  <a:srgbClr val="4F8F00"/>
                </a:solidFill>
                <a:prstDash val="solid"/>
                <a:miter lim="4000"/>
                <a:headEnd len="sm" w="sm" type="none"/>
                <a:tailEnd len="sm" w="sm" type="none"/>
              </a:ln>
            </p:spPr>
          </p:cxnSp>
        </p:grpSp>
        <p:pic>
          <p:nvPicPr>
            <p:cNvPr descr="droppedImage.pdf" id="119" name="Google Shape;119;p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247149" y="3583282"/>
              <a:ext cx="91083" cy="13930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droppedImage.pdf" id="120" name="Google Shape;120;p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939763" y="5613513"/>
              <a:ext cx="171451" cy="1714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droppedImage.pdf" id="121" name="Google Shape;121;p3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903605" y="4617286"/>
              <a:ext cx="171451" cy="1982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droppedImage.pdf" id="122" name="Google Shape;122;p3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476574" y="2329825"/>
              <a:ext cx="344059" cy="14466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" name="Google Shape;123;p3"/>
            <p:cNvSpPr txBox="1"/>
            <p:nvPr/>
          </p:nvSpPr>
          <p:spPr>
            <a:xfrm>
              <a:off x="7051923" y="4517189"/>
              <a:ext cx="1820615" cy="3984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575" lIns="3575" spcFirstLastPara="1" rIns="3575" wrap="square" tIns="3575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What do the three dots correspond to?</a:t>
              </a:r>
              <a:endParaRPr sz="1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droppedImage.tiff" id="124" name="Google Shape;124;p3"/>
            <p:cNvPicPr preferRelativeResize="0"/>
            <p:nvPr/>
          </p:nvPicPr>
          <p:blipFill rotWithShape="1">
            <a:blip r:embed="rId9">
              <a:alphaModFix/>
            </a:blip>
            <a:srcRect b="23449" l="23449" r="23449" t="23449"/>
            <a:stretch/>
          </p:blipFill>
          <p:spPr>
            <a:xfrm>
              <a:off x="5221817" y="3906965"/>
              <a:ext cx="1613112" cy="161311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5" name="Google Shape;125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"/>
          <p:cNvSpPr txBox="1"/>
          <p:nvPr>
            <p:ph type="title"/>
          </p:nvPr>
        </p:nvSpPr>
        <p:spPr>
          <a:xfrm>
            <a:off x="2375646" y="104381"/>
            <a:ext cx="7264341" cy="8689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Examples</a:t>
            </a:r>
            <a:endParaRPr/>
          </a:p>
        </p:txBody>
      </p:sp>
      <p:pic>
        <p:nvPicPr>
          <p:cNvPr descr="droppedImage.tiff" id="131" name="Google Shape;13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3106" y="4027613"/>
            <a:ext cx="2429941" cy="242994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2" name="Google Shape;132;p4"/>
          <p:cNvGrpSpPr/>
          <p:nvPr/>
        </p:nvGrpSpPr>
        <p:grpSpPr>
          <a:xfrm>
            <a:off x="1497592" y="1057908"/>
            <a:ext cx="9451441" cy="281646"/>
            <a:chOff x="1922225" y="1454794"/>
            <a:chExt cx="8335856" cy="248402"/>
          </a:xfrm>
        </p:grpSpPr>
        <p:sp>
          <p:nvSpPr>
            <p:cNvPr id="133" name="Google Shape;133;p4"/>
            <p:cNvSpPr txBox="1"/>
            <p:nvPr/>
          </p:nvSpPr>
          <p:spPr>
            <a:xfrm>
              <a:off x="1922225" y="1454794"/>
              <a:ext cx="3875973" cy="2484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300" lIns="2300" spcFirstLastPara="1" rIns="2300" wrap="square" tIns="23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Spatial domain visualization</a:t>
              </a:r>
              <a:endParaRPr/>
            </a:p>
          </p:txBody>
        </p:sp>
        <p:sp>
          <p:nvSpPr>
            <p:cNvPr id="134" name="Google Shape;134;p4"/>
            <p:cNvSpPr txBox="1"/>
            <p:nvPr/>
          </p:nvSpPr>
          <p:spPr>
            <a:xfrm>
              <a:off x="5798198" y="1454794"/>
              <a:ext cx="4459883" cy="2484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300" lIns="2300" spcFirstLastPara="1" rIns="2300" wrap="square" tIns="23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Frequency domain visualization</a:t>
              </a:r>
              <a:endParaRPr/>
            </a:p>
          </p:txBody>
        </p:sp>
      </p:grpSp>
      <p:pic>
        <p:nvPicPr>
          <p:cNvPr descr="droppedImage.pdf" id="135" name="Google Shape;135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91060" y="6598806"/>
            <a:ext cx="259195" cy="2591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roppedImage.pdf" id="136" name="Google Shape;136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24624" y="5092736"/>
            <a:ext cx="259195" cy="2996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roppedImage.tiff" id="137" name="Google Shape;137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473106" y="1504646"/>
            <a:ext cx="2429941" cy="24299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roppedImage.tiff" id="138" name="Google Shape;138;p4"/>
          <p:cNvPicPr preferRelativeResize="0"/>
          <p:nvPr/>
        </p:nvPicPr>
        <p:blipFill rotWithShape="1">
          <a:blip r:embed="rId7">
            <a:alphaModFix/>
          </a:blip>
          <a:srcRect b="23449" l="23449" r="23449" t="23449"/>
          <a:stretch/>
        </p:blipFill>
        <p:spPr>
          <a:xfrm>
            <a:off x="7205688" y="4018893"/>
            <a:ext cx="2438659" cy="2438659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4"/>
          <p:cNvSpPr txBox="1"/>
          <p:nvPr/>
        </p:nvSpPr>
        <p:spPr>
          <a:xfrm>
            <a:off x="8255383" y="2438115"/>
            <a:ext cx="217847" cy="558645"/>
          </a:xfrm>
          <a:prstGeom prst="rect">
            <a:avLst/>
          </a:prstGeom>
          <a:noFill/>
          <a:ln>
            <a:noFill/>
          </a:ln>
        </p:spPr>
        <p:txBody>
          <a:bodyPr anchorCtr="0" anchor="ctr" bIns="2300" lIns="2300" spcFirstLastPara="1" rIns="2300" wrap="square" tIns="23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  <p:pic>
        <p:nvPicPr>
          <p:cNvPr descr="droppedImage.tiff" id="140" name="Google Shape;140;p4"/>
          <p:cNvPicPr preferRelativeResize="0"/>
          <p:nvPr/>
        </p:nvPicPr>
        <p:blipFill rotWithShape="1">
          <a:blip r:embed="rId8">
            <a:alphaModFix/>
          </a:blip>
          <a:srcRect b="23449" l="23449" r="23449" t="23449"/>
          <a:stretch/>
        </p:blipFill>
        <p:spPr>
          <a:xfrm>
            <a:off x="7201323" y="1508729"/>
            <a:ext cx="2438664" cy="2438664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"/>
          <p:cNvSpPr txBox="1"/>
          <p:nvPr>
            <p:ph type="title"/>
          </p:nvPr>
        </p:nvSpPr>
        <p:spPr>
          <a:xfrm>
            <a:off x="838200" y="365125"/>
            <a:ext cx="10515600" cy="647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ct val="100000"/>
              <a:buFont typeface="Times New Roman"/>
              <a:buNone/>
            </a:pPr>
            <a:r>
              <a:rPr lang="en-US"/>
              <a:t>2D DFT</a:t>
            </a:r>
            <a:endParaRPr/>
          </a:p>
        </p:txBody>
      </p:sp>
      <p:sp>
        <p:nvSpPr>
          <p:cNvPr id="147" name="Google Shape;147;p5"/>
          <p:cNvSpPr txBox="1"/>
          <p:nvPr>
            <p:ph idx="1" type="body"/>
          </p:nvPr>
        </p:nvSpPr>
        <p:spPr>
          <a:xfrm>
            <a:off x="838200" y="1201271"/>
            <a:ext cx="11012096" cy="49756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Forward transform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/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Inverse transform: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t/>
            </a:r>
            <a:endParaRPr sz="3600"/>
          </a:p>
          <a:p>
            <a:pPr indent="-101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i="1" sz="2000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i="1" lang="en-US" sz="2200"/>
              <a:t>u</a:t>
            </a:r>
            <a:r>
              <a:rPr lang="en-US" sz="2200"/>
              <a:t>, </a:t>
            </a:r>
            <a:r>
              <a:rPr i="1" lang="en-US" sz="2200"/>
              <a:t>v </a:t>
            </a:r>
            <a:r>
              <a:rPr lang="en-US" sz="2200"/>
              <a:t>: the transform or frequency variables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i="1" lang="en-US" sz="2200"/>
              <a:t>x</a:t>
            </a:r>
            <a:r>
              <a:rPr lang="en-US" sz="2200"/>
              <a:t>,</a:t>
            </a:r>
            <a:r>
              <a:rPr i="1" lang="en-US" sz="2200"/>
              <a:t> y</a:t>
            </a:r>
            <a:r>
              <a:rPr lang="en-US" sz="2200"/>
              <a:t> : the spatial or image variables</a:t>
            </a:r>
            <a:endParaRPr/>
          </a:p>
        </p:txBody>
      </p:sp>
      <p:sp>
        <p:nvSpPr>
          <p:cNvPr id="148" name="Google Shape;148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49" name="Google Shape;14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90375" y="1114810"/>
            <a:ext cx="4443413" cy="869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27471" y="3783001"/>
            <a:ext cx="4763222" cy="1317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27471" y="2071221"/>
            <a:ext cx="5360988" cy="1293813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5"/>
          <p:cNvSpPr/>
          <p:nvPr/>
        </p:nvSpPr>
        <p:spPr>
          <a:xfrm>
            <a:off x="8888459" y="1160962"/>
            <a:ext cx="2493915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a-periodic signal</a:t>
            </a:r>
            <a:b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periodic transform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153" name="Google Shape;153;p5"/>
          <p:cNvSpPr/>
          <p:nvPr/>
        </p:nvSpPr>
        <p:spPr>
          <a:xfrm>
            <a:off x="8733788" y="2180218"/>
            <a:ext cx="323969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periodized signal</a:t>
            </a:r>
            <a:b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periodic and sampled transform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"/>
          <p:cNvSpPr txBox="1"/>
          <p:nvPr>
            <p:ph type="title"/>
          </p:nvPr>
        </p:nvSpPr>
        <p:spPr>
          <a:xfrm>
            <a:off x="838200" y="365125"/>
            <a:ext cx="10515600" cy="647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ct val="100000"/>
              <a:buFont typeface="Times New Roman"/>
              <a:buNone/>
            </a:pPr>
            <a:r>
              <a:rPr lang="en-US"/>
              <a:t>2D Discrete Fourier Transform</a:t>
            </a:r>
            <a:endParaRPr/>
          </a:p>
        </p:txBody>
      </p:sp>
      <p:sp>
        <p:nvSpPr>
          <p:cNvPr id="159" name="Google Shape;159;p6"/>
          <p:cNvSpPr txBox="1"/>
          <p:nvPr>
            <p:ph idx="1" type="body"/>
          </p:nvPr>
        </p:nvSpPr>
        <p:spPr>
          <a:xfrm>
            <a:off x="838200" y="1201271"/>
            <a:ext cx="10515600" cy="49756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44500" lvl="0" marL="4445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50"/>
              <a:buChar char="•"/>
            </a:pPr>
            <a:r>
              <a:rPr lang="en-US"/>
              <a:t>Represents an image in a frequency domain where the original image is represented in a spatial domain.</a:t>
            </a:r>
            <a:endParaRPr/>
          </a:p>
          <a:p>
            <a:pPr indent="-444500" lvl="0" marL="444500" rtl="0" algn="l">
              <a:lnSpc>
                <a:spcPct val="90000"/>
              </a:lnSpc>
              <a:spcBef>
                <a:spcPts val="4200"/>
              </a:spcBef>
              <a:spcAft>
                <a:spcPts val="0"/>
              </a:spcAft>
              <a:buClr>
                <a:schemeClr val="dk1"/>
              </a:buClr>
              <a:buSzPts val="4350"/>
              <a:buChar char="•"/>
            </a:pPr>
            <a:r>
              <a:rPr lang="en-US"/>
              <a:t>2D DFT converts an image into a complex array that consists of :</a:t>
            </a:r>
            <a:endParaRPr/>
          </a:p>
          <a:p>
            <a:pPr indent="-177800" lvl="4" marL="9144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US" sz="2800"/>
              <a:t>Power Spectrum</a:t>
            </a:r>
            <a:endParaRPr/>
          </a:p>
          <a:p>
            <a:pPr indent="-177800" lvl="4" marL="9144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US" sz="2800"/>
              <a:t>Phase Angle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60" name="Google Shape;160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"/>
          <p:cNvSpPr txBox="1"/>
          <p:nvPr>
            <p:ph type="title"/>
          </p:nvPr>
        </p:nvSpPr>
        <p:spPr>
          <a:xfrm>
            <a:off x="838200" y="365125"/>
            <a:ext cx="10515600" cy="647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ct val="100000"/>
              <a:buFont typeface="Times New Roman"/>
              <a:buNone/>
            </a:pPr>
            <a:r>
              <a:rPr lang="en-US"/>
              <a:t>Magnitude and Phase of DFT</a:t>
            </a:r>
            <a:endParaRPr/>
          </a:p>
        </p:txBody>
      </p:sp>
      <p:sp>
        <p:nvSpPr>
          <p:cNvPr id="167" name="Google Shape;167;p7"/>
          <p:cNvSpPr txBox="1"/>
          <p:nvPr>
            <p:ph idx="1" type="body"/>
          </p:nvPr>
        </p:nvSpPr>
        <p:spPr>
          <a:xfrm>
            <a:off x="838200" y="1201271"/>
            <a:ext cx="10515600" cy="5387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28600" lvl="0" marL="2286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800"/>
              <a:t>What is more important?</a:t>
            </a:r>
            <a:endParaRPr/>
          </a:p>
          <a:p>
            <a:pPr indent="-64135" lvl="0" marL="2286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800"/>
          </a:p>
          <a:p>
            <a:pPr indent="-99378" lvl="0" marL="2286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200"/>
          </a:p>
          <a:p>
            <a:pPr indent="-99378" lvl="0" marL="2286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200"/>
          </a:p>
          <a:p>
            <a:pPr indent="-99378" lvl="0" marL="2286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200"/>
          </a:p>
          <a:p>
            <a:pPr indent="-99378" lvl="0" marL="2286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200"/>
          </a:p>
          <a:p>
            <a:pPr indent="-99378" lvl="0" marL="2286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200"/>
          </a:p>
          <a:p>
            <a:pPr indent="-99378" lvl="0" marL="2286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200"/>
          </a:p>
          <a:p>
            <a:pPr indent="-64135" lvl="0" marL="2286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 sz="2800" u="sng"/>
          </a:p>
          <a:p>
            <a:pPr indent="-64135" lvl="0" marL="2286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 sz="2800" u="sng"/>
          </a:p>
          <a:p>
            <a:pPr indent="-64135" lvl="0" marL="2286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 sz="2800" u="sng"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8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8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8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ct val="100000"/>
              <a:buNone/>
            </a:pPr>
            <a:r>
              <a:rPr lang="en-US" sz="2800">
                <a:solidFill>
                  <a:srgbClr val="FF0000"/>
                </a:solidFill>
              </a:rPr>
              <a:t>Hint</a:t>
            </a:r>
            <a:r>
              <a:rPr lang="en-US" sz="2800">
                <a:solidFill>
                  <a:srgbClr val="FFFF00"/>
                </a:solidFill>
              </a:rPr>
              <a:t>: </a:t>
            </a:r>
            <a:r>
              <a:rPr lang="en-US" sz="2800"/>
              <a:t>use the inverse 2D DFT to reconstruct the input image using only </a:t>
            </a:r>
            <a:r>
              <a:rPr lang="en-US" sz="2800">
                <a:solidFill>
                  <a:srgbClr val="FF0000"/>
                </a:solidFill>
              </a:rPr>
              <a:t>magnitude</a:t>
            </a:r>
            <a:r>
              <a:rPr lang="en-US" sz="2800"/>
              <a:t> or </a:t>
            </a:r>
            <a:r>
              <a:rPr lang="en-US" sz="2800">
                <a:solidFill>
                  <a:srgbClr val="FF0000"/>
                </a:solidFill>
              </a:rPr>
              <a:t>phase</a:t>
            </a:r>
            <a:r>
              <a:rPr lang="en-US" sz="2800"/>
              <a:t> information.</a:t>
            </a:r>
            <a:endParaRPr sz="2200"/>
          </a:p>
          <a:p>
            <a:pPr indent="-99378" lvl="0" marL="2286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200"/>
          </a:p>
        </p:txBody>
      </p:sp>
      <p:sp>
        <p:nvSpPr>
          <p:cNvPr id="168" name="Google Shape;168;p7"/>
          <p:cNvSpPr txBox="1"/>
          <p:nvPr/>
        </p:nvSpPr>
        <p:spPr>
          <a:xfrm>
            <a:off x="5400570" y="5266129"/>
            <a:ext cx="11493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magnitude</a:t>
            </a:r>
            <a:endParaRPr/>
          </a:p>
        </p:txBody>
      </p:sp>
      <p:sp>
        <p:nvSpPr>
          <p:cNvPr id="169" name="Google Shape;169;p7"/>
          <p:cNvSpPr txBox="1"/>
          <p:nvPr/>
        </p:nvSpPr>
        <p:spPr>
          <a:xfrm>
            <a:off x="10024388" y="5310321"/>
            <a:ext cx="7048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phase</a:t>
            </a:r>
            <a:endParaRPr/>
          </a:p>
        </p:txBody>
      </p:sp>
      <p:pic>
        <p:nvPicPr>
          <p:cNvPr id="170" name="Google Shape;17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6315" y="1600200"/>
            <a:ext cx="3657600" cy="365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67200" y="1600200"/>
            <a:ext cx="3657600" cy="365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75516" y="1600200"/>
            <a:ext cx="3657600" cy="365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8"/>
          <p:cNvSpPr txBox="1"/>
          <p:nvPr>
            <p:ph type="title"/>
          </p:nvPr>
        </p:nvSpPr>
        <p:spPr>
          <a:xfrm>
            <a:off x="838200" y="365125"/>
            <a:ext cx="10515600" cy="647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ct val="100000"/>
              <a:buFont typeface="Times New Roman"/>
              <a:buNone/>
            </a:pPr>
            <a:r>
              <a:rPr lang="en-US"/>
              <a:t>Magnitude and Phase of DFT (cont’d)</a:t>
            </a:r>
            <a:endParaRPr/>
          </a:p>
        </p:txBody>
      </p:sp>
      <p:sp>
        <p:nvSpPr>
          <p:cNvPr id="179" name="Google Shape;179;p8"/>
          <p:cNvSpPr txBox="1"/>
          <p:nvPr/>
        </p:nvSpPr>
        <p:spPr>
          <a:xfrm>
            <a:off x="504303" y="4734342"/>
            <a:ext cx="4524897" cy="21236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Reconstructed image using </a:t>
            </a:r>
            <a:r>
              <a:rPr lang="en-US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magnitude</a:t>
            </a:r>
            <a:r>
              <a:rPr lang="en-US" sz="2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only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(i.e., magnitude determines the 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strength of each sinusoidal component)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 txBox="1"/>
          <p:nvPr/>
        </p:nvSpPr>
        <p:spPr>
          <a:xfrm>
            <a:off x="6671467" y="4827578"/>
            <a:ext cx="5016230" cy="16927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Reconstructed using </a:t>
            </a:r>
            <a:r>
              <a:rPr lang="en-US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phase</a:t>
            </a:r>
            <a:r>
              <a:rPr lang="en-US" sz="2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only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(i.e., phase determines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phase of each sinusoidal component)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1" name="Google Shape;18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6083" y="1130709"/>
            <a:ext cx="3657600" cy="365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88093" y="1130709"/>
            <a:ext cx="3657600" cy="365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9"/>
          <p:cNvSpPr txBox="1"/>
          <p:nvPr>
            <p:ph type="title"/>
          </p:nvPr>
        </p:nvSpPr>
        <p:spPr>
          <a:xfrm>
            <a:off x="838200" y="365125"/>
            <a:ext cx="10515600" cy="647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ct val="100000"/>
              <a:buFont typeface="Times New Roman"/>
              <a:buNone/>
            </a:pPr>
            <a:r>
              <a:rPr lang="en-US"/>
              <a:t>Fourier Transform</a:t>
            </a:r>
            <a:endParaRPr/>
          </a:p>
        </p:txBody>
      </p:sp>
      <p:sp>
        <p:nvSpPr>
          <p:cNvPr id="188" name="Google Shape;188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https://lh6.googleusercontent.com/rBNcKv1Jt3jklQpHAxIJeUe9XSwkwATeILnRWGRhqO-1axwYjgRjuITnt3hw0uXbJNilfav9zvKuz_-U8OFWXmHFxHVW_UOOJqCIybOZJqM3RA-GdkIHirrSv_t14jG5uoaI5VepQhvyIuioN-ekUg=s2048" id="189" name="Google Shape;18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48023" y="1160046"/>
            <a:ext cx="2720833" cy="55391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lh5.googleusercontent.com/YInDKsG0BIdRJ3CAl0jItZBSDAM0npl1zvp2JWr251VqpDK93F1GUUYFemTjf0amGXEpih1u5D6T6yNvjP_1nLn2Qv2IiVpeOmX-3cAhMS5bSglQEAznysM57mIcOYL3INGxviqGCse6pxDhiX1eIQ=s2048" id="190" name="Google Shape;190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68856" y="1162790"/>
            <a:ext cx="5422155" cy="55586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0"/>
          <p:cNvSpPr txBox="1"/>
          <p:nvPr>
            <p:ph type="title"/>
          </p:nvPr>
        </p:nvSpPr>
        <p:spPr>
          <a:xfrm>
            <a:off x="838200" y="365125"/>
            <a:ext cx="10515600" cy="647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ct val="100000"/>
              <a:buFont typeface="Times New Roman"/>
              <a:buNone/>
            </a:pPr>
            <a:r>
              <a:rPr lang="en-US"/>
              <a:t>Basics of Filtering in the Frequency Domain</a:t>
            </a:r>
            <a:endParaRPr/>
          </a:p>
        </p:txBody>
      </p:sp>
      <p:sp>
        <p:nvSpPr>
          <p:cNvPr id="196" name="Google Shape;196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Image Gallery" id="197" name="Google Shape;197;p10"/>
          <p:cNvPicPr preferRelativeResize="0"/>
          <p:nvPr/>
        </p:nvPicPr>
        <p:blipFill rotWithShape="1">
          <a:blip r:embed="rId3">
            <a:alphaModFix/>
          </a:blip>
          <a:srcRect b="1951" l="0" r="0" t="1952"/>
          <a:stretch/>
        </p:blipFill>
        <p:spPr>
          <a:xfrm>
            <a:off x="4925444" y="4377070"/>
            <a:ext cx="2201796" cy="21158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Gallery" id="198" name="Google Shape;198;p10"/>
          <p:cNvPicPr preferRelativeResize="0"/>
          <p:nvPr/>
        </p:nvPicPr>
        <p:blipFill rotWithShape="1">
          <a:blip r:embed="rId4">
            <a:alphaModFix/>
          </a:blip>
          <a:srcRect b="1094" l="0" r="0" t="1094"/>
          <a:stretch/>
        </p:blipFill>
        <p:spPr>
          <a:xfrm>
            <a:off x="1178156" y="4384754"/>
            <a:ext cx="2201797" cy="210043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creenshot 2023-05-08 at 7.58.38 AM.png" id="199" name="Google Shape;199;p10"/>
          <p:cNvPicPr preferRelativeResize="0"/>
          <p:nvPr/>
        </p:nvPicPr>
        <p:blipFill rotWithShape="1">
          <a:blip r:embed="rId5">
            <a:alphaModFix/>
          </a:blip>
          <a:srcRect b="8005" l="0" r="0" t="8006"/>
          <a:stretch/>
        </p:blipFill>
        <p:spPr>
          <a:xfrm>
            <a:off x="838200" y="1384582"/>
            <a:ext cx="7057894" cy="2913112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0"/>
          <p:cNvSpPr txBox="1"/>
          <p:nvPr/>
        </p:nvSpPr>
        <p:spPr>
          <a:xfrm>
            <a:off x="2194694" y="3998050"/>
            <a:ext cx="7057894" cy="386704"/>
          </a:xfrm>
          <a:prstGeom prst="rect">
            <a:avLst/>
          </a:prstGeom>
          <a:noFill/>
          <a:ln>
            <a:noFill/>
          </a:ln>
        </p:spPr>
        <p:txBody>
          <a:bodyPr anchorCtr="0" anchor="t" bIns="76200" lIns="76200" spcFirstLastPara="1" rIns="76200" wrap="square" tIns="762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Spectrum moved into the centre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1" name="Google Shape;201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67392" y="3643356"/>
            <a:ext cx="2548386" cy="2563615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0"/>
          <p:cNvSpPr txBox="1"/>
          <p:nvPr/>
        </p:nvSpPr>
        <p:spPr>
          <a:xfrm>
            <a:off x="9146795" y="3244334"/>
            <a:ext cx="75212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Phase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1"/>
          <p:cNvSpPr txBox="1"/>
          <p:nvPr>
            <p:ph type="title"/>
          </p:nvPr>
        </p:nvSpPr>
        <p:spPr>
          <a:xfrm>
            <a:off x="838200" y="365125"/>
            <a:ext cx="10515600" cy="647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ct val="100000"/>
              <a:buFont typeface="Times New Roman"/>
              <a:buNone/>
            </a:pPr>
            <a:r>
              <a:rPr lang="en-US"/>
              <a:t>Basics of Filtering in the Frequency Domain</a:t>
            </a:r>
            <a:endParaRPr/>
          </a:p>
        </p:txBody>
      </p:sp>
      <p:sp>
        <p:nvSpPr>
          <p:cNvPr id="208" name="Google Shape;208;p11"/>
          <p:cNvSpPr txBox="1"/>
          <p:nvPr>
            <p:ph idx="1" type="body"/>
          </p:nvPr>
        </p:nvSpPr>
        <p:spPr>
          <a:xfrm>
            <a:off x="838200" y="1201271"/>
            <a:ext cx="10515600" cy="19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To filter an image in the frequency domain:</a:t>
            </a:r>
            <a:endParaRPr/>
          </a:p>
          <a:p>
            <a:pPr indent="-514350" lvl="1" marL="9715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/>
              <a:t>Compute F(u,v) by  DFT of the image f(x,y).</a:t>
            </a:r>
            <a:endParaRPr/>
          </a:p>
          <a:p>
            <a:pPr indent="-514350" lvl="1" marL="9715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/>
              <a:t>Multiply F(u,v) by a filter function H(u,v).</a:t>
            </a:r>
            <a:endParaRPr/>
          </a:p>
          <a:p>
            <a:pPr indent="-514350" lvl="1" marL="9715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/>
              <a:t>Compute the inverse DFT of the result .</a:t>
            </a:r>
            <a:br>
              <a:rPr lang="en-US"/>
            </a:b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209" name="Google Shape;209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10" name="Google Shape;210;p11"/>
          <p:cNvPicPr preferRelativeResize="0"/>
          <p:nvPr/>
        </p:nvPicPr>
        <p:blipFill rotWithShape="1">
          <a:blip r:embed="rId3">
            <a:alphaModFix/>
          </a:blip>
          <a:srcRect b="9499" l="0" r="0" t="0"/>
          <a:stretch/>
        </p:blipFill>
        <p:spPr>
          <a:xfrm>
            <a:off x="1963205" y="2771864"/>
            <a:ext cx="8018995" cy="35844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2"/>
          <p:cNvSpPr txBox="1"/>
          <p:nvPr>
            <p:ph type="title"/>
          </p:nvPr>
        </p:nvSpPr>
        <p:spPr>
          <a:xfrm>
            <a:off x="838200" y="365125"/>
            <a:ext cx="10515600" cy="647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ct val="100000"/>
              <a:buFont typeface="Times New Roman"/>
              <a:buNone/>
            </a:pPr>
            <a:r>
              <a:rPr lang="en-US"/>
              <a:t>Steps</a:t>
            </a:r>
            <a:endParaRPr/>
          </a:p>
        </p:txBody>
      </p:sp>
      <p:pic>
        <p:nvPicPr>
          <p:cNvPr id="216" name="Google Shape;216;p1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1" l="0" r="0" t="-1955"/>
          <a:stretch/>
        </p:blipFill>
        <p:spPr>
          <a:xfrm>
            <a:off x="767088" y="1407459"/>
            <a:ext cx="11122386" cy="4464424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3"/>
          <p:cNvSpPr txBox="1"/>
          <p:nvPr>
            <p:ph type="title"/>
          </p:nvPr>
        </p:nvSpPr>
        <p:spPr>
          <a:xfrm>
            <a:off x="838200" y="365125"/>
            <a:ext cx="10515600" cy="647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ct val="100000"/>
              <a:buFont typeface="Times New Roman"/>
              <a:buNone/>
            </a:pPr>
            <a:r>
              <a:rPr lang="en-US"/>
              <a:t>Steps</a:t>
            </a:r>
            <a:endParaRPr/>
          </a:p>
        </p:txBody>
      </p:sp>
      <p:pic>
        <p:nvPicPr>
          <p:cNvPr id="223" name="Google Shape;223;p1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7811" y="1393696"/>
            <a:ext cx="7952087" cy="4039992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25" name="Google Shape;22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17811" y="5433688"/>
            <a:ext cx="10757647" cy="12877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4"/>
          <p:cNvSpPr txBox="1"/>
          <p:nvPr>
            <p:ph type="title"/>
          </p:nvPr>
        </p:nvSpPr>
        <p:spPr>
          <a:xfrm>
            <a:off x="838200" y="365125"/>
            <a:ext cx="10515600" cy="647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ct val="100000"/>
              <a:buFont typeface="Times New Roman"/>
              <a:buNone/>
            </a:pPr>
            <a:r>
              <a:rPr lang="en-US"/>
              <a:t>Implement These Steps</a:t>
            </a:r>
            <a:endParaRPr/>
          </a:p>
        </p:txBody>
      </p:sp>
      <p:pic>
        <p:nvPicPr>
          <p:cNvPr id="231" name="Google Shape;231;p1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2069232"/>
            <a:ext cx="6250342" cy="3056695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33" name="Google Shape;23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85211" y="2016437"/>
            <a:ext cx="4415117" cy="33992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5"/>
          <p:cNvSpPr txBox="1"/>
          <p:nvPr>
            <p:ph type="title"/>
          </p:nvPr>
        </p:nvSpPr>
        <p:spPr>
          <a:xfrm>
            <a:off x="838200" y="365125"/>
            <a:ext cx="10515600" cy="647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ct val="100000"/>
              <a:buFont typeface="Times New Roman"/>
              <a:buNone/>
            </a:pPr>
            <a:r>
              <a:rPr lang="en-US"/>
              <a:t>Steps</a:t>
            </a:r>
            <a:endParaRPr/>
          </a:p>
        </p:txBody>
      </p:sp>
      <p:pic>
        <p:nvPicPr>
          <p:cNvPr id="239" name="Google Shape;239;p1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48551" t="0"/>
          <a:stretch/>
        </p:blipFill>
        <p:spPr>
          <a:xfrm>
            <a:off x="1062319" y="1719205"/>
            <a:ext cx="6541668" cy="4134747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41" name="Google Shape;241;p15"/>
          <p:cNvPicPr preferRelativeResize="0"/>
          <p:nvPr/>
        </p:nvPicPr>
        <p:blipFill rotWithShape="1">
          <a:blip r:embed="rId3">
            <a:alphaModFix/>
          </a:blip>
          <a:srcRect b="0" l="70418" r="0" t="0"/>
          <a:stretch/>
        </p:blipFill>
        <p:spPr>
          <a:xfrm>
            <a:off x="7723093" y="1719205"/>
            <a:ext cx="3761323" cy="41347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6"/>
          <p:cNvSpPr txBox="1"/>
          <p:nvPr>
            <p:ph type="title"/>
          </p:nvPr>
        </p:nvSpPr>
        <p:spPr>
          <a:xfrm>
            <a:off x="838200" y="365125"/>
            <a:ext cx="10515600" cy="647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ct val="100000"/>
              <a:buFont typeface="Times New Roman"/>
              <a:buNone/>
            </a:pPr>
            <a:r>
              <a:rPr lang="en-US"/>
              <a:t>Example</a:t>
            </a:r>
            <a:endParaRPr/>
          </a:p>
        </p:txBody>
      </p:sp>
      <p:sp>
        <p:nvSpPr>
          <p:cNvPr id="247" name="Google Shape;247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48" name="Google Shape;24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09424" y="4159250"/>
            <a:ext cx="2652668" cy="266852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9" name="Google Shape;249;p16"/>
          <p:cNvCxnSpPr/>
          <p:nvPr/>
        </p:nvCxnSpPr>
        <p:spPr>
          <a:xfrm flipH="1" rot="10800000">
            <a:off x="5462092" y="5220575"/>
            <a:ext cx="4998300" cy="1272300"/>
          </a:xfrm>
          <a:prstGeom prst="bentConnector3">
            <a:avLst>
              <a:gd fmla="val 100004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250" name="Google Shape;250;p16"/>
          <p:cNvCxnSpPr/>
          <p:nvPr/>
        </p:nvCxnSpPr>
        <p:spPr>
          <a:xfrm flipH="1" rot="10800000">
            <a:off x="8919937" y="5245736"/>
            <a:ext cx="1540418" cy="341161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251" name="Google Shape;251;p16"/>
          <p:cNvCxnSpPr/>
          <p:nvPr/>
        </p:nvCxnSpPr>
        <p:spPr>
          <a:xfrm>
            <a:off x="7570562" y="2835275"/>
            <a:ext cx="0" cy="5937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252" name="Google Shape;252;p16"/>
          <p:cNvCxnSpPr/>
          <p:nvPr/>
        </p:nvCxnSpPr>
        <p:spPr>
          <a:xfrm>
            <a:off x="5410743" y="2339346"/>
            <a:ext cx="2159819" cy="1059101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253" name="Google Shape;253;p16"/>
          <p:cNvCxnSpPr/>
          <p:nvPr/>
        </p:nvCxnSpPr>
        <p:spPr>
          <a:xfrm flipH="1" rot="10800000">
            <a:off x="2524760" y="3088640"/>
            <a:ext cx="233314" cy="80772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254" name="Google Shape;254;p16"/>
          <p:cNvCxnSpPr/>
          <p:nvPr/>
        </p:nvCxnSpPr>
        <p:spPr>
          <a:xfrm>
            <a:off x="2524760" y="3896360"/>
            <a:ext cx="284664" cy="90932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255" name="Google Shape;255;p16"/>
          <p:cNvSpPr txBox="1"/>
          <p:nvPr/>
        </p:nvSpPr>
        <p:spPr>
          <a:xfrm>
            <a:off x="1090235" y="1391684"/>
            <a:ext cx="171918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Power spectrum</a:t>
            </a:r>
            <a:endParaRPr/>
          </a:p>
        </p:txBody>
      </p:sp>
      <p:sp>
        <p:nvSpPr>
          <p:cNvPr id="256" name="Google Shape;256;p16"/>
          <p:cNvSpPr txBox="1"/>
          <p:nvPr/>
        </p:nvSpPr>
        <p:spPr>
          <a:xfrm>
            <a:off x="2013960" y="5987018"/>
            <a:ext cx="74411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phase</a:t>
            </a:r>
            <a:endParaRPr/>
          </a:p>
        </p:txBody>
      </p:sp>
      <p:sp>
        <p:nvSpPr>
          <p:cNvPr id="257" name="Google Shape;257;p16"/>
          <p:cNvSpPr txBox="1"/>
          <p:nvPr/>
        </p:nvSpPr>
        <p:spPr>
          <a:xfrm>
            <a:off x="8991600" y="1346650"/>
            <a:ext cx="12485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Notch filter</a:t>
            </a:r>
            <a:endParaRPr/>
          </a:p>
        </p:txBody>
      </p:sp>
      <p:pic>
        <p:nvPicPr>
          <p:cNvPr id="258" name="Google Shape;25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699" y="2517414"/>
            <a:ext cx="2455200" cy="255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01015" y="1138844"/>
            <a:ext cx="2602922" cy="26942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16"/>
          <p:cNvPicPr preferRelativeResize="0"/>
          <p:nvPr>
            <p:ph idx="1" type="body"/>
          </p:nvPr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90652" y="457819"/>
            <a:ext cx="2346216" cy="2346216"/>
          </a:xfrm>
          <a:prstGeom prst="rect">
            <a:avLst/>
          </a:prstGeom>
          <a:noFill/>
          <a:ln cap="sq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57150" rotWithShape="0" algn="tl" dir="2700000" dist="50800">
              <a:srgbClr val="000000">
                <a:alpha val="40000"/>
              </a:srgbClr>
            </a:outerShdw>
          </a:effectLst>
        </p:spPr>
      </p:pic>
      <p:pic>
        <p:nvPicPr>
          <p:cNvPr id="261" name="Google Shape;261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57654" y="3407220"/>
            <a:ext cx="2407902" cy="24079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261672" y="2765290"/>
            <a:ext cx="2397652" cy="23976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7"/>
          <p:cNvSpPr txBox="1"/>
          <p:nvPr>
            <p:ph type="title"/>
          </p:nvPr>
        </p:nvSpPr>
        <p:spPr>
          <a:xfrm>
            <a:off x="838200" y="365125"/>
            <a:ext cx="10515600" cy="647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ct val="100000"/>
              <a:buFont typeface="Times New Roman"/>
              <a:buNone/>
            </a:pPr>
            <a:r>
              <a:rPr lang="en-US"/>
              <a:t>Notch Filter</a:t>
            </a:r>
            <a:endParaRPr/>
          </a:p>
        </p:txBody>
      </p:sp>
      <p:sp>
        <p:nvSpPr>
          <p:cNvPr id="268" name="Google Shape;268;p17"/>
          <p:cNvSpPr txBox="1"/>
          <p:nvPr>
            <p:ph idx="1" type="body"/>
          </p:nvPr>
        </p:nvSpPr>
        <p:spPr>
          <a:xfrm>
            <a:off x="838200" y="1201271"/>
            <a:ext cx="10515600" cy="49756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lang="en-US"/>
              <a:t>A notch filter rejects (or passes) frequencies in a predefined neighborhood about the center of the frequency rectangle.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lang="en-US"/>
              <a:t>A notch is symmetric about the origin (center of the frequency rectangle) 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lang="en-US"/>
              <a:t>One with center at (u</a:t>
            </a:r>
            <a:r>
              <a:rPr baseline="-25000" lang="en-US"/>
              <a:t>0</a:t>
            </a:r>
            <a:r>
              <a:rPr lang="en-US"/>
              <a:t>, v</a:t>
            </a:r>
            <a:r>
              <a:rPr baseline="-25000" lang="en-US"/>
              <a:t>0</a:t>
            </a:r>
            <a:r>
              <a:rPr lang="en-US"/>
              <a:t>) must have a corresponding notch at location (-u</a:t>
            </a:r>
            <a:r>
              <a:rPr baseline="-25000" lang="en-US"/>
              <a:t>0</a:t>
            </a:r>
            <a:r>
              <a:rPr lang="en-US"/>
              <a:t>, -v</a:t>
            </a:r>
            <a:r>
              <a:rPr baseline="-25000" lang="en-US"/>
              <a:t>0</a:t>
            </a:r>
            <a:r>
              <a:rPr lang="en-US"/>
              <a:t>)</a:t>
            </a:r>
            <a:endParaRPr/>
          </a:p>
          <a:p>
            <a:pPr indent="-508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269" name="Google Shape;269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8"/>
          <p:cNvSpPr txBox="1"/>
          <p:nvPr>
            <p:ph type="title"/>
          </p:nvPr>
        </p:nvSpPr>
        <p:spPr>
          <a:xfrm>
            <a:off x="838200" y="365125"/>
            <a:ext cx="10515600" cy="647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ct val="100000"/>
              <a:buFont typeface="Times New Roman"/>
              <a:buNone/>
            </a:pPr>
            <a:r>
              <a:rPr lang="en-US" sz="4400"/>
              <a:t>Ideal and Butterworth notch reject filter</a:t>
            </a:r>
            <a:endParaRPr/>
          </a:p>
        </p:txBody>
      </p:sp>
      <p:sp>
        <p:nvSpPr>
          <p:cNvPr id="275" name="Google Shape;275;p18"/>
          <p:cNvSpPr txBox="1"/>
          <p:nvPr>
            <p:ph idx="1" type="body"/>
          </p:nvPr>
        </p:nvSpPr>
        <p:spPr>
          <a:xfrm>
            <a:off x="838200" y="1201271"/>
            <a:ext cx="10515600" cy="49756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276" name="Google Shape;276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77" name="Google Shape;277;p18"/>
          <p:cNvPicPr preferRelativeResize="0"/>
          <p:nvPr/>
        </p:nvPicPr>
        <p:blipFill rotWithShape="1">
          <a:blip r:embed="rId3">
            <a:alphaModFix/>
          </a:blip>
          <a:srcRect b="0" l="11260" r="1" t="0"/>
          <a:stretch/>
        </p:blipFill>
        <p:spPr>
          <a:xfrm>
            <a:off x="977206" y="1604844"/>
            <a:ext cx="4966038" cy="41685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18"/>
          <p:cNvPicPr preferRelativeResize="0"/>
          <p:nvPr/>
        </p:nvPicPr>
        <p:blipFill rotWithShape="1">
          <a:blip r:embed="rId4">
            <a:alphaModFix/>
          </a:blip>
          <a:srcRect b="0" l="0" r="10475" t="0"/>
          <a:stretch/>
        </p:blipFill>
        <p:spPr>
          <a:xfrm>
            <a:off x="6737835" y="1590654"/>
            <a:ext cx="4615965" cy="41827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9"/>
          <p:cNvSpPr txBox="1"/>
          <p:nvPr>
            <p:ph type="title"/>
          </p:nvPr>
        </p:nvSpPr>
        <p:spPr>
          <a:xfrm>
            <a:off x="838200" y="365125"/>
            <a:ext cx="10515600" cy="647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ct val="100000"/>
              <a:buFont typeface="Times New Roman"/>
              <a:buNone/>
            </a:pPr>
            <a:r>
              <a:rPr lang="en-US"/>
              <a:t>Classwork </a:t>
            </a:r>
            <a:endParaRPr/>
          </a:p>
        </p:txBody>
      </p:sp>
      <p:sp>
        <p:nvSpPr>
          <p:cNvPr id="284" name="Google Shape;284;p19"/>
          <p:cNvSpPr txBox="1"/>
          <p:nvPr>
            <p:ph idx="1" type="body"/>
          </p:nvPr>
        </p:nvSpPr>
        <p:spPr>
          <a:xfrm>
            <a:off x="838200" y="1201271"/>
            <a:ext cx="10515600" cy="49756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Take an input grayscale image and apply Notch reject filters on the Fourier domain to remove periodic noise from the image.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/>
              <a:t>Compute DFT F(u,v) for the input image.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/>
              <a:t>Show the power spectrum of F(u,v)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/>
              <a:t>Select the coordinates from the spectrum which you want to remove.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/>
              <a:t>Generate the Notch reject filter around the coordinate(= center) to reject that specific frequency as H(u,v). The radius of the Notch will be user input. Show H(u,v).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/>
              <a:t>Form the product G(u,v) = F(u,v)H(u,v).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/>
              <a:t>Apply Inverse Fourier Transform to generate the output image in the spatial domain.</a:t>
            </a:r>
            <a:endParaRPr/>
          </a:p>
          <a:p>
            <a:pPr indent="-3365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/>
          </a:p>
          <a:p>
            <a:pPr indent="-3365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85" name="Google Shape;285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0"/>
          <p:cNvSpPr txBox="1"/>
          <p:nvPr>
            <p:ph type="title"/>
          </p:nvPr>
        </p:nvSpPr>
        <p:spPr>
          <a:xfrm>
            <a:off x="838200" y="365125"/>
            <a:ext cx="10515600" cy="647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3600"/>
              <a:buFont typeface="Times New Roman"/>
              <a:buNone/>
            </a:pPr>
            <a:r>
              <a:rPr lang="en-US" sz="3600"/>
              <a:t>Butterworth Notch Reject Filter of order n</a:t>
            </a:r>
            <a:endParaRPr/>
          </a:p>
        </p:txBody>
      </p:sp>
      <p:sp>
        <p:nvSpPr>
          <p:cNvPr id="291" name="Google Shape;291;p20"/>
          <p:cNvSpPr txBox="1"/>
          <p:nvPr>
            <p:ph idx="1" type="body"/>
          </p:nvPr>
        </p:nvSpPr>
        <p:spPr>
          <a:xfrm>
            <a:off x="838200" y="1201271"/>
            <a:ext cx="10515600" cy="49756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The general form of Butterworth Highpass filter:</a:t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The distance computations for each filter transfer function are given by</a:t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292" name="Google Shape;292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/>
              <a:t>‹#›</a:t>
            </a:fld>
            <a:endParaRPr sz="1200"/>
          </a:p>
        </p:txBody>
      </p:sp>
      <p:sp>
        <p:nvSpPr>
          <p:cNvPr id="293" name="Google Shape;293;p20"/>
          <p:cNvSpPr txBox="1"/>
          <p:nvPr/>
        </p:nvSpPr>
        <p:spPr>
          <a:xfrm>
            <a:off x="1784541" y="1731422"/>
            <a:ext cx="9435909" cy="10058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94" name="Google Shape;294;p20"/>
          <p:cNvSpPr txBox="1"/>
          <p:nvPr/>
        </p:nvSpPr>
        <p:spPr>
          <a:xfrm>
            <a:off x="1261213" y="3434174"/>
            <a:ext cx="9564630" cy="6553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95" name="Google Shape;295;p20"/>
          <p:cNvSpPr txBox="1"/>
          <p:nvPr/>
        </p:nvSpPr>
        <p:spPr>
          <a:xfrm>
            <a:off x="1261214" y="4263778"/>
            <a:ext cx="9385016" cy="6553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96" name="Google Shape;296;p20"/>
          <p:cNvSpPr txBox="1"/>
          <p:nvPr/>
        </p:nvSpPr>
        <p:spPr>
          <a:xfrm>
            <a:off x="2093970" y="5316959"/>
            <a:ext cx="10306774" cy="1210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1"/>
          <p:cNvSpPr txBox="1"/>
          <p:nvPr>
            <p:ph type="title"/>
          </p:nvPr>
        </p:nvSpPr>
        <p:spPr>
          <a:xfrm>
            <a:off x="838200" y="365125"/>
            <a:ext cx="10515600" cy="647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ct val="100000"/>
              <a:buFont typeface="Times New Roman"/>
              <a:buNone/>
            </a:pPr>
            <a:r>
              <a:rPr lang="en-US"/>
              <a:t>Classwork A2&amp;B1</a:t>
            </a:r>
            <a:endParaRPr/>
          </a:p>
        </p:txBody>
      </p:sp>
      <p:sp>
        <p:nvSpPr>
          <p:cNvPr id="302" name="Google Shape;302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03" name="Google Shape;30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58075" y="1013012"/>
            <a:ext cx="2652668" cy="2652668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2080" y="2700020"/>
            <a:ext cx="2392680" cy="2392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09424" y="4159250"/>
            <a:ext cx="2652668" cy="266852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6" name="Google Shape;306;p21"/>
          <p:cNvCxnSpPr/>
          <p:nvPr/>
        </p:nvCxnSpPr>
        <p:spPr>
          <a:xfrm flipH="1" rot="10800000">
            <a:off x="5462092" y="5220575"/>
            <a:ext cx="4998300" cy="1272300"/>
          </a:xfrm>
          <a:prstGeom prst="bentConnector3">
            <a:avLst>
              <a:gd fmla="val 100004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307" name="Google Shape;307;p21"/>
          <p:cNvCxnSpPr/>
          <p:nvPr/>
        </p:nvCxnSpPr>
        <p:spPr>
          <a:xfrm flipH="1" rot="10800000">
            <a:off x="8719980" y="5245737"/>
            <a:ext cx="1740375" cy="274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308" name="Google Shape;308;p21"/>
          <p:cNvCxnSpPr/>
          <p:nvPr/>
        </p:nvCxnSpPr>
        <p:spPr>
          <a:xfrm>
            <a:off x="7570562" y="2835275"/>
            <a:ext cx="0" cy="5937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309" name="Google Shape;309;p21"/>
          <p:cNvCxnSpPr>
            <a:stCxn id="303" idx="3"/>
          </p:cNvCxnSpPr>
          <p:nvPr/>
        </p:nvCxnSpPr>
        <p:spPr>
          <a:xfrm>
            <a:off x="5410743" y="2339346"/>
            <a:ext cx="2159700" cy="1059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310" name="Google Shape;310;p21"/>
          <p:cNvCxnSpPr>
            <a:stCxn id="304" idx="3"/>
          </p:cNvCxnSpPr>
          <p:nvPr/>
        </p:nvCxnSpPr>
        <p:spPr>
          <a:xfrm flipH="1" rot="10800000">
            <a:off x="2524760" y="3088760"/>
            <a:ext cx="233400" cy="807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311" name="Google Shape;311;p21"/>
          <p:cNvCxnSpPr>
            <a:stCxn id="304" idx="3"/>
          </p:cNvCxnSpPr>
          <p:nvPr/>
        </p:nvCxnSpPr>
        <p:spPr>
          <a:xfrm>
            <a:off x="2524760" y="3896360"/>
            <a:ext cx="284700" cy="909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312" name="Google Shape;312;p21"/>
          <p:cNvSpPr txBox="1"/>
          <p:nvPr/>
        </p:nvSpPr>
        <p:spPr>
          <a:xfrm>
            <a:off x="1090235" y="1391684"/>
            <a:ext cx="171918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Power spectrum</a:t>
            </a:r>
            <a:endParaRPr/>
          </a:p>
        </p:txBody>
      </p:sp>
      <p:sp>
        <p:nvSpPr>
          <p:cNvPr id="313" name="Google Shape;313;p21"/>
          <p:cNvSpPr txBox="1"/>
          <p:nvPr/>
        </p:nvSpPr>
        <p:spPr>
          <a:xfrm>
            <a:off x="2013960" y="5987018"/>
            <a:ext cx="74411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phase</a:t>
            </a:r>
            <a:endParaRPr/>
          </a:p>
        </p:txBody>
      </p:sp>
      <p:sp>
        <p:nvSpPr>
          <p:cNvPr id="314" name="Google Shape;314;p21"/>
          <p:cNvSpPr txBox="1"/>
          <p:nvPr/>
        </p:nvSpPr>
        <p:spPr>
          <a:xfrm>
            <a:off x="8991600" y="1346650"/>
            <a:ext cx="12485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Notch filter</a:t>
            </a:r>
            <a:endParaRPr/>
          </a:p>
        </p:txBody>
      </p:sp>
      <p:pic>
        <p:nvPicPr>
          <p:cNvPr id="315" name="Google Shape;315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90652" y="483307"/>
            <a:ext cx="2465349" cy="246534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16" name="Google Shape;316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159875" y="2213612"/>
            <a:ext cx="3032125" cy="3032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015964" y="3453672"/>
            <a:ext cx="2704016" cy="2704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2"/>
          <p:cNvSpPr txBox="1"/>
          <p:nvPr>
            <p:ph type="title"/>
          </p:nvPr>
        </p:nvSpPr>
        <p:spPr>
          <a:xfrm>
            <a:off x="838200" y="365125"/>
            <a:ext cx="10515600" cy="647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ct val="100000"/>
              <a:buFont typeface="Times New Roman"/>
              <a:buNone/>
            </a:pPr>
            <a:r>
              <a:rPr lang="en-US"/>
              <a:t>Classwork</a:t>
            </a:r>
            <a:endParaRPr/>
          </a:p>
        </p:txBody>
      </p:sp>
      <p:sp>
        <p:nvSpPr>
          <p:cNvPr id="323" name="Google Shape;323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4" name="Google Shape;324;p22"/>
          <p:cNvSpPr txBox="1"/>
          <p:nvPr/>
        </p:nvSpPr>
        <p:spPr>
          <a:xfrm>
            <a:off x="1948780" y="5285527"/>
            <a:ext cx="329452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Removing frequency at (272,256) &amp; (261,261) , D0 = 20, n=2</a:t>
            </a:r>
            <a:endParaRPr/>
          </a:p>
        </p:txBody>
      </p:sp>
      <p:pic>
        <p:nvPicPr>
          <p:cNvPr id="325" name="Google Shape;32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72200" y="1844675"/>
            <a:ext cx="3294529" cy="3294529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38961" y="1844675"/>
            <a:ext cx="3294529" cy="3294529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22"/>
          <p:cNvSpPr txBox="1"/>
          <p:nvPr/>
        </p:nvSpPr>
        <p:spPr>
          <a:xfrm>
            <a:off x="6172201" y="5280322"/>
            <a:ext cx="329452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Removing frequency at (272,256) &amp; (261,261) , D0 = 5, n=2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3"/>
          <p:cNvSpPr txBox="1"/>
          <p:nvPr>
            <p:ph type="title"/>
          </p:nvPr>
        </p:nvSpPr>
        <p:spPr>
          <a:xfrm>
            <a:off x="838200" y="365125"/>
            <a:ext cx="10515600" cy="647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ct val="100000"/>
              <a:buFont typeface="Times New Roman"/>
              <a:buNone/>
            </a:pPr>
            <a:r>
              <a:rPr lang="en-US"/>
              <a:t>Ideal Low pass Filter (ILPF)</a:t>
            </a:r>
            <a:endParaRPr/>
          </a:p>
        </p:txBody>
      </p:sp>
      <p:sp>
        <p:nvSpPr>
          <p:cNvPr id="333" name="Google Shape;333;p23"/>
          <p:cNvSpPr txBox="1"/>
          <p:nvPr>
            <p:ph idx="1" type="body"/>
          </p:nvPr>
        </p:nvSpPr>
        <p:spPr>
          <a:xfrm>
            <a:off x="838200" y="1201271"/>
            <a:ext cx="10515600" cy="49756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simplest low pass filter is a filter that “cuts off” all high-frequency components of the Fourier  transform that are at a distance greater than a specified distance D0 from the origin of the transform.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transfer function of an ideal low pass filter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where D(u,v) : the distance from point (u,v) to the center of their frequency rectangle</a:t>
            </a:r>
            <a:endParaRPr/>
          </a:p>
        </p:txBody>
      </p:sp>
      <p:sp>
        <p:nvSpPr>
          <p:cNvPr id="334" name="Google Shape;334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35" name="Google Shape;33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70377" y="5567211"/>
            <a:ext cx="4295706" cy="600378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70377" y="3202677"/>
            <a:ext cx="4779772" cy="11837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1" name="Google Shape;34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2129" y="1334918"/>
            <a:ext cx="10332077" cy="4375218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24"/>
          <p:cNvSpPr txBox="1"/>
          <p:nvPr>
            <p:ph type="title"/>
          </p:nvPr>
        </p:nvSpPr>
        <p:spPr>
          <a:xfrm>
            <a:off x="838200" y="365125"/>
            <a:ext cx="10515600" cy="647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ct val="100000"/>
              <a:buFont typeface="Times New Roman"/>
              <a:buNone/>
            </a:pPr>
            <a:r>
              <a:rPr lang="en-US"/>
              <a:t>ILPF</a:t>
            </a:r>
            <a:endParaRPr/>
          </a:p>
        </p:txBody>
      </p:sp>
      <p:sp>
        <p:nvSpPr>
          <p:cNvPr id="343" name="Google Shape;343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5"/>
          <p:cNvSpPr txBox="1"/>
          <p:nvPr>
            <p:ph type="title"/>
          </p:nvPr>
        </p:nvSpPr>
        <p:spPr>
          <a:xfrm>
            <a:off x="703729" y="217021"/>
            <a:ext cx="10515600" cy="647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ct val="100000"/>
              <a:buFont typeface="Times New Roman"/>
              <a:buNone/>
            </a:pPr>
            <a:r>
              <a:rPr lang="en-US"/>
              <a:t>ILPF - example</a:t>
            </a:r>
            <a:endParaRPr/>
          </a:p>
        </p:txBody>
      </p:sp>
      <p:sp>
        <p:nvSpPr>
          <p:cNvPr id="349" name="Google Shape;349;p25"/>
          <p:cNvSpPr txBox="1"/>
          <p:nvPr>
            <p:ph idx="1" type="body"/>
          </p:nvPr>
        </p:nvSpPr>
        <p:spPr>
          <a:xfrm>
            <a:off x="703729" y="1237128"/>
            <a:ext cx="6347034" cy="53922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As the filter radius increases, less &amp; less power is removed, resulting in less server blurring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The ringing effect is a characteristic of ideal filters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For α=99.95, only slight blurring in the noisy squares are shown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the little edge information is contained in the upper 0.5% of the spectrum power in this case</a:t>
            </a:r>
            <a:endParaRPr/>
          </a:p>
        </p:txBody>
      </p:sp>
      <p:pic>
        <p:nvPicPr>
          <p:cNvPr id="350" name="Google Shape;35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50763" y="114229"/>
            <a:ext cx="4168566" cy="55801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46400" y="5786437"/>
            <a:ext cx="8407400" cy="842962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6"/>
          <p:cNvSpPr txBox="1"/>
          <p:nvPr>
            <p:ph idx="1" type="body"/>
          </p:nvPr>
        </p:nvSpPr>
        <p:spPr>
          <a:xfrm>
            <a:off x="133611" y="1584324"/>
            <a:ext cx="5555093" cy="5045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It has a central dominant circular component (providing the blurring)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It has concentric circular components (rings) giving rise to the ringing effect</a:t>
            </a:r>
            <a:endParaRPr/>
          </a:p>
        </p:txBody>
      </p:sp>
      <p:grpSp>
        <p:nvGrpSpPr>
          <p:cNvPr id="358" name="Google Shape;358;p26"/>
          <p:cNvGrpSpPr/>
          <p:nvPr/>
        </p:nvGrpSpPr>
        <p:grpSpPr>
          <a:xfrm>
            <a:off x="5742679" y="274638"/>
            <a:ext cx="4802187" cy="6583362"/>
            <a:chOff x="2407" y="173"/>
            <a:chExt cx="3025" cy="4147"/>
          </a:xfrm>
        </p:grpSpPr>
        <p:pic>
          <p:nvPicPr>
            <p:cNvPr id="359" name="Google Shape;359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407" y="173"/>
              <a:ext cx="3025" cy="414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0" name="Google Shape;360;p26"/>
            <p:cNvSpPr/>
            <p:nvPr/>
          </p:nvSpPr>
          <p:spPr>
            <a:xfrm>
              <a:off x="2742" y="1998"/>
              <a:ext cx="120" cy="126"/>
            </a:xfrm>
            <a:prstGeom prst="ellipse">
              <a:avLst/>
            </a:prstGeom>
            <a:noFill/>
            <a:ln cap="flat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61" name="Google Shape;361;p26"/>
            <p:cNvSpPr/>
            <p:nvPr/>
          </p:nvSpPr>
          <p:spPr>
            <a:xfrm>
              <a:off x="3460" y="2710"/>
              <a:ext cx="120" cy="126"/>
            </a:xfrm>
            <a:prstGeom prst="ellipse">
              <a:avLst/>
            </a:prstGeom>
            <a:noFill/>
            <a:ln cap="flat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62" name="Google Shape;362;p26"/>
            <p:cNvSpPr/>
            <p:nvPr/>
          </p:nvSpPr>
          <p:spPr>
            <a:xfrm>
              <a:off x="3104" y="2366"/>
              <a:ext cx="120" cy="126"/>
            </a:xfrm>
            <a:prstGeom prst="ellipse">
              <a:avLst/>
            </a:prstGeom>
            <a:noFill/>
            <a:ln cap="flat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63" name="Google Shape;363;p26"/>
            <p:cNvSpPr/>
            <p:nvPr/>
          </p:nvSpPr>
          <p:spPr>
            <a:xfrm>
              <a:off x="3456" y="1998"/>
              <a:ext cx="120" cy="126"/>
            </a:xfrm>
            <a:prstGeom prst="ellipse">
              <a:avLst/>
            </a:prstGeom>
            <a:noFill/>
            <a:ln cap="flat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64" name="Google Shape;364;p26"/>
            <p:cNvSpPr/>
            <p:nvPr/>
          </p:nvSpPr>
          <p:spPr>
            <a:xfrm>
              <a:off x="2740" y="2716"/>
              <a:ext cx="120" cy="126"/>
            </a:xfrm>
            <a:prstGeom prst="ellipse">
              <a:avLst/>
            </a:prstGeom>
            <a:noFill/>
            <a:ln cap="flat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65" name="Google Shape;365;p26"/>
            <p:cNvSpPr/>
            <p:nvPr/>
          </p:nvSpPr>
          <p:spPr>
            <a:xfrm>
              <a:off x="3107" y="872"/>
              <a:ext cx="120" cy="126"/>
            </a:xfrm>
            <a:prstGeom prst="ellipse">
              <a:avLst/>
            </a:prstGeom>
            <a:noFill/>
            <a:ln cap="flat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366" name="Google Shape;366;p26"/>
          <p:cNvSpPr txBox="1"/>
          <p:nvPr/>
        </p:nvSpPr>
        <p:spPr>
          <a:xfrm>
            <a:off x="252371" y="4131950"/>
            <a:ext cx="4950314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4.13 (a) A frequency-domain ILPF of radius 5. (b) Corresponding spatial filter. (c) Five impulses in the spatial domain, simulating the values of five pixels. (d) </a:t>
            </a: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Convolution of (b) and (c) in the spatial domain.</a:t>
            </a:r>
            <a:endParaRPr/>
          </a:p>
        </p:txBody>
      </p:sp>
      <p:sp>
        <p:nvSpPr>
          <p:cNvPr id="367" name="Google Shape;367;p26"/>
          <p:cNvSpPr/>
          <p:nvPr/>
        </p:nvSpPr>
        <p:spPr>
          <a:xfrm>
            <a:off x="7930253" y="4310064"/>
            <a:ext cx="347662" cy="276225"/>
          </a:xfrm>
          <a:prstGeom prst="rightArrow">
            <a:avLst>
              <a:gd fmla="val 50000" name="adj1"/>
              <a:gd fmla="val 31465" name="adj2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8" name="Google Shape;368;p26"/>
          <p:cNvSpPr/>
          <p:nvPr/>
        </p:nvSpPr>
        <p:spPr>
          <a:xfrm rot="5400000">
            <a:off x="8945460" y="3856832"/>
            <a:ext cx="347662" cy="276225"/>
          </a:xfrm>
          <a:prstGeom prst="rightArrow">
            <a:avLst>
              <a:gd fmla="val 50000" name="adj1"/>
              <a:gd fmla="val 31465" name="adj2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9" name="Google Shape;369;p26"/>
          <p:cNvSpPr/>
          <p:nvPr/>
        </p:nvSpPr>
        <p:spPr>
          <a:xfrm>
            <a:off x="7942953" y="1898651"/>
            <a:ext cx="347662" cy="276225"/>
          </a:xfrm>
          <a:prstGeom prst="rightArrow">
            <a:avLst>
              <a:gd fmla="val 50000" name="adj1"/>
              <a:gd fmla="val 31465" name="adj2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0" name="Google Shape;370;p26"/>
          <p:cNvSpPr/>
          <p:nvPr/>
        </p:nvSpPr>
        <p:spPr>
          <a:xfrm>
            <a:off x="6692003" y="2125663"/>
            <a:ext cx="140176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frequency</a:t>
            </a:r>
            <a:endParaRPr sz="2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1" name="Google Shape;371;p26"/>
          <p:cNvSpPr/>
          <p:nvPr/>
        </p:nvSpPr>
        <p:spPr>
          <a:xfrm>
            <a:off x="9444728" y="3462338"/>
            <a:ext cx="977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spatial</a:t>
            </a:r>
            <a:endParaRPr sz="2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2" name="Google Shape;372;p26"/>
          <p:cNvSpPr/>
          <p:nvPr/>
        </p:nvSpPr>
        <p:spPr>
          <a:xfrm>
            <a:off x="7134915" y="4548188"/>
            <a:ext cx="977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spatial</a:t>
            </a:r>
            <a:endParaRPr sz="2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3" name="Google Shape;373;p26"/>
          <p:cNvSpPr/>
          <p:nvPr/>
        </p:nvSpPr>
        <p:spPr>
          <a:xfrm>
            <a:off x="9484415" y="5824538"/>
            <a:ext cx="977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spatial</a:t>
            </a:r>
            <a:endParaRPr sz="2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74" name="Google Shape;374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9671" y="5867400"/>
            <a:ext cx="4431645" cy="427037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26"/>
          <p:cNvSpPr txBox="1"/>
          <p:nvPr>
            <p:ph type="title"/>
          </p:nvPr>
        </p:nvSpPr>
        <p:spPr>
          <a:xfrm>
            <a:off x="838200" y="365125"/>
            <a:ext cx="10515600" cy="647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ct val="100000"/>
              <a:buFont typeface="Times New Roman"/>
              <a:buNone/>
            </a:pPr>
            <a:r>
              <a:rPr lang="en-US"/>
              <a:t>ILPF – </a:t>
            </a:r>
            <a:r>
              <a:rPr lang="en-US" sz="3200"/>
              <a:t>ringing effect</a:t>
            </a:r>
            <a:endParaRPr/>
          </a:p>
        </p:txBody>
      </p:sp>
      <p:sp>
        <p:nvSpPr>
          <p:cNvPr id="376" name="Google Shape;376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27"/>
          <p:cNvSpPr txBox="1"/>
          <p:nvPr>
            <p:ph type="title"/>
          </p:nvPr>
        </p:nvSpPr>
        <p:spPr>
          <a:xfrm>
            <a:off x="838200" y="365125"/>
            <a:ext cx="10515600" cy="647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ct val="100000"/>
              <a:buFont typeface="Times New Roman"/>
              <a:buNone/>
            </a:pPr>
            <a:r>
              <a:rPr lang="en-US"/>
              <a:t>Gaussian Lowpass Filters (GLPF)</a:t>
            </a:r>
            <a:endParaRPr/>
          </a:p>
        </p:txBody>
      </p:sp>
      <p:pic>
        <p:nvPicPr>
          <p:cNvPr id="382" name="Google Shape;38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8565" y="1322294"/>
            <a:ext cx="9079198" cy="5105400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8" name="Google Shape;38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13185" y="2827338"/>
            <a:ext cx="8764587" cy="3802063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28"/>
          <p:cNvSpPr txBox="1"/>
          <p:nvPr>
            <p:ph type="title"/>
          </p:nvPr>
        </p:nvSpPr>
        <p:spPr>
          <a:xfrm>
            <a:off x="838200" y="365125"/>
            <a:ext cx="10515600" cy="647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ct val="100000"/>
              <a:buFont typeface="Times New Roman"/>
              <a:buNone/>
            </a:pPr>
            <a:r>
              <a:rPr lang="en-US"/>
              <a:t>GLPF</a:t>
            </a:r>
            <a:endParaRPr/>
          </a:p>
        </p:txBody>
      </p:sp>
      <p:sp>
        <p:nvSpPr>
          <p:cNvPr id="390" name="Google Shape;390;p28"/>
          <p:cNvSpPr txBox="1"/>
          <p:nvPr>
            <p:ph idx="1" type="body"/>
          </p:nvPr>
        </p:nvSpPr>
        <p:spPr>
          <a:xfrm>
            <a:off x="838200" y="1201271"/>
            <a:ext cx="10515600" cy="49756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inverse Fourier transform of the GLPF also is Gaussian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Guarantees no ringing</a:t>
            </a:r>
            <a:endParaRPr/>
          </a:p>
        </p:txBody>
      </p:sp>
      <p:sp>
        <p:nvSpPr>
          <p:cNvPr id="391" name="Google Shape;391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6" name="Google Shape;39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10858" y="136525"/>
            <a:ext cx="4009543" cy="5924271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29"/>
          <p:cNvSpPr txBox="1"/>
          <p:nvPr/>
        </p:nvSpPr>
        <p:spPr>
          <a:xfrm>
            <a:off x="7290212" y="6067527"/>
            <a:ext cx="305083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baseline="-25000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=5,15,30,80,and 230</a:t>
            </a:r>
            <a:endParaRPr/>
          </a:p>
        </p:txBody>
      </p:sp>
      <p:sp>
        <p:nvSpPr>
          <p:cNvPr id="398" name="Google Shape;398;p29"/>
          <p:cNvSpPr txBox="1"/>
          <p:nvPr>
            <p:ph type="title"/>
          </p:nvPr>
        </p:nvSpPr>
        <p:spPr>
          <a:xfrm>
            <a:off x="838200" y="365125"/>
            <a:ext cx="10515600" cy="647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ct val="100000"/>
              <a:buFont typeface="Times New Roman"/>
              <a:buNone/>
            </a:pPr>
            <a:r>
              <a:rPr lang="en-US"/>
              <a:t>GLPF - example</a:t>
            </a:r>
            <a:endParaRPr/>
          </a:p>
        </p:txBody>
      </p:sp>
      <p:sp>
        <p:nvSpPr>
          <p:cNvPr id="399" name="Google Shape;399;p29"/>
          <p:cNvSpPr txBox="1"/>
          <p:nvPr>
            <p:ph idx="1" type="body"/>
          </p:nvPr>
        </p:nvSpPr>
        <p:spPr>
          <a:xfrm>
            <a:off x="133611" y="1488140"/>
            <a:ext cx="6677247" cy="49843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As in the case of the BLPF, a smooth transition in blurring as a function of increasing cutoff frequency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No ringing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The GLPF did not achieve as much smoothing as the BLPF of order 2 for the same value of cutoff frequency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BLPF is a more suitable choice if: tight control of the transition between low &amp; high frequencies about the cutoff frequency are needed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the price: ringing</a:t>
            </a:r>
            <a:endParaRPr/>
          </a:p>
        </p:txBody>
      </p:sp>
      <p:sp>
        <p:nvSpPr>
          <p:cNvPr id="400" name="Google Shape;400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30"/>
          <p:cNvSpPr txBox="1"/>
          <p:nvPr>
            <p:ph idx="1" type="body"/>
          </p:nvPr>
        </p:nvSpPr>
        <p:spPr>
          <a:xfrm>
            <a:off x="838200" y="1846729"/>
            <a:ext cx="10515600" cy="43302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Filter function</a:t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for high values of “filter order” the Butterworth filter approaches the form of the </a:t>
            </a:r>
            <a:r>
              <a:rPr lang="en-US" sz="2400">
                <a:solidFill>
                  <a:srgbClr val="0E25FE"/>
                </a:solidFill>
              </a:rPr>
              <a:t>ideal lowpass filter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for lower-order values, the Butterworth filter has a smooth form similar to the </a:t>
            </a:r>
            <a:r>
              <a:rPr lang="en-US" sz="2400">
                <a:solidFill>
                  <a:srgbClr val="0E25FE"/>
                </a:solidFill>
              </a:rPr>
              <a:t>Gaussian filter</a:t>
            </a:r>
            <a:endParaRPr/>
          </a:p>
        </p:txBody>
      </p:sp>
      <p:pic>
        <p:nvPicPr>
          <p:cNvPr id="406" name="Google Shape;406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26504" y="1501588"/>
            <a:ext cx="3656012" cy="930275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30"/>
          <p:cNvSpPr txBox="1"/>
          <p:nvPr>
            <p:ph type="title"/>
          </p:nvPr>
        </p:nvSpPr>
        <p:spPr>
          <a:xfrm>
            <a:off x="838200" y="365125"/>
            <a:ext cx="10515600" cy="647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800"/>
              <a:buFont typeface="Times New Roman"/>
              <a:buNone/>
            </a:pPr>
            <a:r>
              <a:rPr lang="en-US" sz="2800"/>
              <a:t>Butterworth Low pass Filters (BLPFs) With order </a:t>
            </a:r>
            <a:r>
              <a:rPr i="1" lang="en-US" sz="2800"/>
              <a:t>n</a:t>
            </a:r>
            <a:endParaRPr/>
          </a:p>
        </p:txBody>
      </p:sp>
      <p:sp>
        <p:nvSpPr>
          <p:cNvPr id="408" name="Google Shape;408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31"/>
          <p:cNvSpPr txBox="1"/>
          <p:nvPr>
            <p:ph idx="1" type="body"/>
          </p:nvPr>
        </p:nvSpPr>
        <p:spPr>
          <a:xfrm>
            <a:off x="838200" y="1201271"/>
            <a:ext cx="10515600" cy="49756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BLPF does not have a sharp discontinuity that establishes a clear cutoff between passed and filtered frequencies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H(u,v)=0.5 (down 50% from its maximum value of 1) when D(u,v)=D0</a:t>
            </a:r>
            <a:endParaRPr/>
          </a:p>
        </p:txBody>
      </p:sp>
      <p:pic>
        <p:nvPicPr>
          <p:cNvPr id="414" name="Google Shape;414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6278" y="2989412"/>
            <a:ext cx="8520475" cy="3639989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31"/>
          <p:cNvSpPr txBox="1"/>
          <p:nvPr>
            <p:ph type="title"/>
          </p:nvPr>
        </p:nvSpPr>
        <p:spPr>
          <a:xfrm>
            <a:off x="838200" y="365125"/>
            <a:ext cx="10515600" cy="647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3200"/>
              <a:buFont typeface="Times New Roman"/>
              <a:buNone/>
            </a:pPr>
            <a:r>
              <a:rPr lang="en-US" sz="3200"/>
              <a:t>BLPF</a:t>
            </a:r>
            <a:endParaRPr/>
          </a:p>
        </p:txBody>
      </p:sp>
      <p:sp>
        <p:nvSpPr>
          <p:cNvPr id="416" name="Google Shape;416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1" name="Google Shape;42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06437" y="247547"/>
            <a:ext cx="4499458" cy="6557127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32"/>
          <p:cNvSpPr txBox="1"/>
          <p:nvPr/>
        </p:nvSpPr>
        <p:spPr>
          <a:xfrm>
            <a:off x="838200" y="4603615"/>
            <a:ext cx="4070925" cy="11264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=2</a:t>
            </a:r>
            <a:endParaRPr/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baseline="-25000"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=5,15,30,80,and 230</a:t>
            </a:r>
            <a:endParaRPr/>
          </a:p>
        </p:txBody>
      </p:sp>
      <p:sp>
        <p:nvSpPr>
          <p:cNvPr id="423" name="Google Shape;423;p32"/>
          <p:cNvSpPr txBox="1"/>
          <p:nvPr>
            <p:ph type="title"/>
          </p:nvPr>
        </p:nvSpPr>
        <p:spPr>
          <a:xfrm>
            <a:off x="838200" y="365125"/>
            <a:ext cx="10515600" cy="647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ct val="100000"/>
              <a:buFont typeface="Times New Roman"/>
              <a:buNone/>
            </a:pPr>
            <a:r>
              <a:rPr lang="en-US"/>
              <a:t>BLPF - example</a:t>
            </a:r>
            <a:endParaRPr/>
          </a:p>
        </p:txBody>
      </p:sp>
      <p:sp>
        <p:nvSpPr>
          <p:cNvPr id="424" name="Google Shape;424;p32"/>
          <p:cNvSpPr txBox="1"/>
          <p:nvPr>
            <p:ph idx="1" type="body"/>
          </p:nvPr>
        </p:nvSpPr>
        <p:spPr>
          <a:xfrm>
            <a:off x="424863" y="1427966"/>
            <a:ext cx="6094911" cy="28260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A smooth transition in blurring as a function of increasing cutoff frequency</a:t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No ringing is visible due to the smooth transition between low &amp; high frequencies</a:t>
            </a:r>
            <a:endParaRPr/>
          </a:p>
        </p:txBody>
      </p:sp>
      <p:sp>
        <p:nvSpPr>
          <p:cNvPr id="425" name="Google Shape;425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33"/>
          <p:cNvSpPr txBox="1"/>
          <p:nvPr>
            <p:ph type="title"/>
          </p:nvPr>
        </p:nvSpPr>
        <p:spPr>
          <a:xfrm>
            <a:off x="838200" y="365125"/>
            <a:ext cx="10515600" cy="647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ct val="100000"/>
              <a:buFont typeface="Times New Roman"/>
              <a:buNone/>
            </a:pPr>
            <a:r>
              <a:rPr lang="en-US"/>
              <a:t>Output Format</a:t>
            </a:r>
            <a:endParaRPr/>
          </a:p>
        </p:txBody>
      </p:sp>
      <p:sp>
        <p:nvSpPr>
          <p:cNvPr id="431" name="Google Shape;431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432" name="Google Shape;432;p33"/>
          <p:cNvGraphicFramePr/>
          <p:nvPr/>
        </p:nvGraphicFramePr>
        <p:xfrm>
          <a:off x="1809378" y="140098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{628A6E30-834D-4FA5-9B9A-895B26403CD7}</a:tableStyleId>
              </a:tblPr>
              <a:tblGrid>
                <a:gridCol w="2528550"/>
                <a:gridCol w="2528550"/>
                <a:gridCol w="2528550"/>
              </a:tblGrid>
              <a:tr h="12141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Input Corrupted Image with noise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Filters 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Reconstructed Image after applying filter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12141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Input Image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Ideal Low Pass Filter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Reconstructed Image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1214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Input Image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Gaussian Low Pass Filter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Reconstructed Image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  <a:tr h="1214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Input Image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Butter Low Pass  Filter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Reconstructed Image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34"/>
          <p:cNvSpPr txBox="1"/>
          <p:nvPr>
            <p:ph type="title"/>
          </p:nvPr>
        </p:nvSpPr>
        <p:spPr>
          <a:xfrm>
            <a:off x="838200" y="365125"/>
            <a:ext cx="10515600" cy="647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ct val="100000"/>
              <a:buFont typeface="Times New Roman"/>
              <a:buNone/>
            </a:pPr>
            <a:r>
              <a:rPr lang="en-US"/>
              <a:t>References</a:t>
            </a:r>
            <a:endParaRPr/>
          </a:p>
        </p:txBody>
      </p:sp>
      <p:sp>
        <p:nvSpPr>
          <p:cNvPr id="438" name="Google Shape;438;p34"/>
          <p:cNvSpPr txBox="1"/>
          <p:nvPr>
            <p:ph idx="1" type="body"/>
          </p:nvPr>
        </p:nvSpPr>
        <p:spPr>
          <a:xfrm>
            <a:off x="838200" y="1201271"/>
            <a:ext cx="10515600" cy="49756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https://www.amritaryal.com.np/posts/categories/mathematics-and-engineering/2.html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u="sng">
                <a:solidFill>
                  <a:schemeClr val="hlink"/>
                </a:solidFill>
                <a:hlinkClick r:id="rId4"/>
              </a:rPr>
              <a:t>https://contra.medium.com/drawing-anything-with-fourier-series-using-blender-and-python-c0881e1b738c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439" name="Google Shape;439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2022-03-22T12:35:29Z</dcterms:created>
  <dc:creator>Sunanda_Das</dc:creator>
</cp:coreProperties>
</file>