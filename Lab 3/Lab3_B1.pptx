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jeyUzCKrfoFEKMdgdBwUNRTCq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3B446C-D852-4E70-87AE-737057B11682}">
  <a:tblStyle styleId="{E13B446C-D852-4E70-87AE-737057B116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97CEAA2-1C69-464A-9515-3C0892B0C76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Times New Roman"/>
              <a:buNone/>
              <a:defRPr b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3"/>
          <p:cNvSpPr/>
          <p:nvPr/>
        </p:nvSpPr>
        <p:spPr>
          <a:xfrm>
            <a:off x="775447" y="1013012"/>
            <a:ext cx="10578353" cy="124433"/>
          </a:xfrm>
          <a:prstGeom prst="rect">
            <a:avLst/>
          </a:prstGeom>
          <a:gradFill>
            <a:gsLst>
              <a:gs pos="0">
                <a:srgbClr val="F5F7FC"/>
              </a:gs>
              <a:gs pos="74000">
                <a:srgbClr val="2F5496"/>
              </a:gs>
              <a:gs pos="83000">
                <a:srgbClr val="1F3864"/>
              </a:gs>
              <a:gs pos="100000">
                <a:srgbClr val="1F3864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24.pn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jpg"/><Relationship Id="rId4" Type="http://schemas.openxmlformats.org/officeDocument/2006/relationships/image" Target="../media/image4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Grzetan/ImageToFourierSeries" TargetMode="External"/><Relationship Id="rId4" Type="http://schemas.openxmlformats.org/officeDocument/2006/relationships/hyperlink" Target="https://contra.medium.com/drawing-anything-with-fourier-series-using-blender-and-python-c0881e1b738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524000" y="781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4102</a:t>
            </a:r>
            <a:br>
              <a:rPr b="0" i="0" lang="en-US" sz="4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Graphics and Image Processing Laboratory</a:t>
            </a:r>
            <a:br>
              <a:rPr b="0" i="0" lang="en-US" sz="32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sng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3: Image Restoration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180668" y="4162662"/>
            <a:ext cx="28496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 Tajmilur Rahman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CSE, KUET</a:t>
            </a:r>
            <a:endParaRPr/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439269" y="4332990"/>
            <a:ext cx="36794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 Mubtashim Abrar Nihal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CSE, KUET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What We are Going to Do Today?</a:t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6.googleusercontent.com/rBNcKv1Jt3jklQpHAxIJeUe9XSwkwATeILnRWGRhqO-1axwYjgRjuITnt3hw0uXbJNilfav9zvKuz_-U8OFWXmHFxHVW_UOOJqCIybOZJqM3RA-GdkIHirrSv_t14jG5uoaI5VepQhvyIuioN-ekUg=s2048" id="99" name="Google Shape;99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08" y="1211147"/>
            <a:ext cx="2663174" cy="5421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YInDKsG0BIdRJ3CAl0jItZBSDAM0npl1zvp2JWr251VqpDK93F1GUUYFemTjf0amGXEpih1u5D6T6yNvjP_1nLn2Qv2IiVpeOmX-3cAhMS5bSglQEAznysM57mIcOYL3INGxviqGCse6pxDhiX1eIQ=s2048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48957" r="0" t="0"/>
          <a:stretch/>
        </p:blipFill>
        <p:spPr>
          <a:xfrm>
            <a:off x="8508162" y="1167238"/>
            <a:ext cx="2743200" cy="550962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4164433" y="1741890"/>
            <a:ext cx="3612777" cy="4524315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the image from spatial domain to frequency domain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frequency of the periodic noise 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that frequency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 the image from frequency domain to spatial domain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grpSp>
        <p:nvGrpSpPr>
          <p:cNvPr id="107" name="Google Shape;107;p3"/>
          <p:cNvGrpSpPr/>
          <p:nvPr/>
        </p:nvGrpSpPr>
        <p:grpSpPr>
          <a:xfrm>
            <a:off x="1956273" y="1454107"/>
            <a:ext cx="8826029" cy="4546645"/>
            <a:chOff x="1373386" y="1921847"/>
            <a:chExt cx="7499152" cy="3863117"/>
          </a:xfrm>
        </p:grpSpPr>
        <p:pic>
          <p:nvPicPr>
            <p:cNvPr descr="droppedImage.pdf" id="108" name="Google Shape;10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1517" y="2332473"/>
              <a:ext cx="1526977" cy="1303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ppedImage.tiff" id="109" name="Google Shape;10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91332" y="3912733"/>
              <a:ext cx="1607345" cy="16073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" name="Google Shape;110;p3"/>
            <p:cNvGrpSpPr/>
            <p:nvPr/>
          </p:nvGrpSpPr>
          <p:grpSpPr>
            <a:xfrm>
              <a:off x="1446054" y="1921847"/>
              <a:ext cx="6251892" cy="239304"/>
              <a:chOff x="1922225" y="1419460"/>
              <a:chExt cx="8335856" cy="319072"/>
            </a:xfrm>
          </p:grpSpPr>
          <p:sp>
            <p:nvSpPr>
              <p:cNvPr id="111" name="Google Shape;111;p3"/>
              <p:cNvSpPr txBox="1"/>
              <p:nvPr/>
            </p:nvSpPr>
            <p:spPr>
              <a:xfrm>
                <a:off x="1922225" y="1419460"/>
                <a:ext cx="3875973" cy="3190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00" lIns="2300" spcFirstLastPara="1" rIns="2300" wrap="square" tIns="23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Spatial domain visualization</a:t>
                </a:r>
                <a:endParaRPr/>
              </a:p>
            </p:txBody>
          </p:sp>
          <p:sp>
            <p:nvSpPr>
              <p:cNvPr id="112" name="Google Shape;112;p3"/>
              <p:cNvSpPr txBox="1"/>
              <p:nvPr/>
            </p:nvSpPr>
            <p:spPr>
              <a:xfrm>
                <a:off x="5798198" y="1419460"/>
                <a:ext cx="4459883" cy="3190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00" lIns="2300" spcFirstLastPara="1" rIns="2300" wrap="square" tIns="23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Frequency domain visualization</a:t>
                </a:r>
                <a:endParaRPr/>
              </a:p>
            </p:txBody>
          </p:sp>
        </p:grpSp>
        <p:sp>
          <p:nvSpPr>
            <p:cNvPr id="113" name="Google Shape;113;p3"/>
            <p:cNvSpPr txBox="1"/>
            <p:nvPr/>
          </p:nvSpPr>
          <p:spPr>
            <a:xfrm>
              <a:off x="1373386" y="2864486"/>
              <a:ext cx="476846" cy="23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00" lIns="2300" spcFirstLastPara="1" rIns="2300" wrap="square" tIns="23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1D</a:t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1373386" y="4596754"/>
              <a:ext cx="476846" cy="23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00" lIns="2300" spcFirstLastPara="1" rIns="2300" wrap="square" tIns="23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2D</a:t>
              </a:r>
              <a:endParaRPr/>
            </a:p>
          </p:txBody>
        </p:sp>
        <p:grpSp>
          <p:nvGrpSpPr>
            <p:cNvPr id="115" name="Google Shape;115;p3"/>
            <p:cNvGrpSpPr/>
            <p:nvPr/>
          </p:nvGrpSpPr>
          <p:grpSpPr>
            <a:xfrm>
              <a:off x="4915331" y="2315070"/>
              <a:ext cx="2220314" cy="1338136"/>
              <a:chOff x="6538140" y="1950540"/>
              <a:chExt cx="2960418" cy="1784181"/>
            </a:xfrm>
          </p:grpSpPr>
          <p:cxnSp>
            <p:nvCxnSpPr>
              <p:cNvPr id="116" name="Google Shape;116;p3"/>
              <p:cNvCxnSpPr/>
              <p:nvPr/>
            </p:nvCxnSpPr>
            <p:spPr>
              <a:xfrm>
                <a:off x="6538140" y="3727577"/>
                <a:ext cx="2960418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4000"/>
                <a:headEnd len="sm" w="sm" type="none"/>
                <a:tailEnd len="med" w="med" type="triangle"/>
              </a:ln>
            </p:spPr>
          </p:cxnSp>
          <p:cxnSp>
            <p:nvCxnSpPr>
              <p:cNvPr id="117" name="Google Shape;117;p3"/>
              <p:cNvCxnSpPr/>
              <p:nvPr/>
            </p:nvCxnSpPr>
            <p:spPr>
              <a:xfrm flipH="1" rot="10800000">
                <a:off x="6548189" y="1950540"/>
                <a:ext cx="1" cy="178418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4000"/>
                <a:headEnd len="sm" w="sm" type="none"/>
                <a:tailEnd len="med" w="med" type="triangle"/>
              </a:ln>
            </p:spPr>
          </p:cxnSp>
          <p:cxnSp>
            <p:nvCxnSpPr>
              <p:cNvPr id="118" name="Google Shape;118;p3"/>
              <p:cNvCxnSpPr/>
              <p:nvPr/>
            </p:nvCxnSpPr>
            <p:spPr>
              <a:xfrm>
                <a:off x="7133977" y="1970214"/>
                <a:ext cx="0" cy="1753519"/>
              </a:xfrm>
              <a:prstGeom prst="straightConnector1">
                <a:avLst/>
              </a:prstGeom>
              <a:noFill/>
              <a:ln cap="flat" cmpd="sng" w="50800">
                <a:solidFill>
                  <a:srgbClr val="4F8F00"/>
                </a:solidFill>
                <a:prstDash val="solid"/>
                <a:miter lim="4000"/>
                <a:headEnd len="sm" w="sm" type="none"/>
                <a:tailEnd len="sm" w="sm" type="none"/>
              </a:ln>
            </p:spPr>
          </p:cxnSp>
        </p:grpSp>
        <p:pic>
          <p:nvPicPr>
            <p:cNvPr descr="droppedImage.pdf" id="119" name="Google Shape;119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47149" y="3583282"/>
              <a:ext cx="91083" cy="139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ppedImage.pdf" id="120" name="Google Shape;120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39763" y="5613513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ppedImage.pdf" id="121" name="Google Shape;121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903605" y="4617286"/>
              <a:ext cx="171451" cy="1982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ppedImage.pdf" id="122" name="Google Shape;122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76574" y="2329825"/>
              <a:ext cx="344059" cy="1446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3"/>
            <p:cNvSpPr txBox="1"/>
            <p:nvPr/>
          </p:nvSpPr>
          <p:spPr>
            <a:xfrm>
              <a:off x="7051923" y="4517189"/>
              <a:ext cx="1820615" cy="398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5" lIns="3575" spcFirstLastPara="1" rIns="3575" wrap="square" tIns="35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do the three dots correspond to?</a:t>
              </a:r>
              <a:endParaRPr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roppedImage.tiff" id="124" name="Google Shape;124;p3"/>
            <p:cNvPicPr preferRelativeResize="0"/>
            <p:nvPr/>
          </p:nvPicPr>
          <p:blipFill rotWithShape="1">
            <a:blip r:embed="rId9">
              <a:alphaModFix/>
            </a:blip>
            <a:srcRect b="23449" l="23449" r="23449" t="23449"/>
            <a:stretch/>
          </p:blipFill>
          <p:spPr>
            <a:xfrm>
              <a:off x="5221817" y="3906965"/>
              <a:ext cx="1613112" cy="16131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" name="Google Shape;1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2375646" y="104381"/>
            <a:ext cx="7264341" cy="86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descr="droppedImage.tiff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3106" y="4027613"/>
            <a:ext cx="2429941" cy="24299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4"/>
          <p:cNvGrpSpPr/>
          <p:nvPr/>
        </p:nvGrpSpPr>
        <p:grpSpPr>
          <a:xfrm>
            <a:off x="1497592" y="1057908"/>
            <a:ext cx="9451441" cy="281646"/>
            <a:chOff x="1922225" y="1454794"/>
            <a:chExt cx="8335856" cy="248402"/>
          </a:xfrm>
        </p:grpSpPr>
        <p:sp>
          <p:nvSpPr>
            <p:cNvPr id="133" name="Google Shape;133;p4"/>
            <p:cNvSpPr txBox="1"/>
            <p:nvPr/>
          </p:nvSpPr>
          <p:spPr>
            <a:xfrm>
              <a:off x="1922225" y="1454794"/>
              <a:ext cx="3875973" cy="248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00" lIns="2300" spcFirstLastPara="1" rIns="2300" wrap="square" tIns="23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Spatial domain visualization</a:t>
              </a:r>
              <a:endParaRPr/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5798198" y="1454794"/>
              <a:ext cx="4459883" cy="248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00" lIns="2300" spcFirstLastPara="1" rIns="2300" wrap="square" tIns="23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 domain visualization</a:t>
              </a:r>
              <a:endParaRPr/>
            </a:p>
          </p:txBody>
        </p:sp>
      </p:grpSp>
      <p:pic>
        <p:nvPicPr>
          <p:cNvPr descr="droppedImage.pdf" id="135" name="Google Shape;1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1060" y="6598806"/>
            <a:ext cx="259195" cy="259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oppedImage.pdf" id="136" name="Google Shape;13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24" y="5092736"/>
            <a:ext cx="259195" cy="299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oppedImage.tiff" id="137" name="Google Shape;13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3106" y="1504646"/>
            <a:ext cx="2429941" cy="2429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oppedImage.tiff" id="138" name="Google Shape;138;p4"/>
          <p:cNvPicPr preferRelativeResize="0"/>
          <p:nvPr/>
        </p:nvPicPr>
        <p:blipFill rotWithShape="1">
          <a:blip r:embed="rId7">
            <a:alphaModFix/>
          </a:blip>
          <a:srcRect b="23449" l="23449" r="23449" t="23449"/>
          <a:stretch/>
        </p:blipFill>
        <p:spPr>
          <a:xfrm>
            <a:off x="7205688" y="4018893"/>
            <a:ext cx="2438659" cy="243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8255383" y="2438115"/>
            <a:ext cx="217847" cy="558645"/>
          </a:xfrm>
          <a:prstGeom prst="rect">
            <a:avLst/>
          </a:prstGeom>
          <a:noFill/>
          <a:ln>
            <a:noFill/>
          </a:ln>
        </p:spPr>
        <p:txBody>
          <a:bodyPr anchorCtr="0" anchor="ctr" bIns="2300" lIns="2300" spcFirstLastPara="1" rIns="2300" wrap="square" tIns="23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pic>
        <p:nvPicPr>
          <p:cNvPr descr="droppedImage.tiff" id="140" name="Google Shape;140;p4"/>
          <p:cNvPicPr preferRelativeResize="0"/>
          <p:nvPr/>
        </p:nvPicPr>
        <p:blipFill rotWithShape="1">
          <a:blip r:embed="rId8">
            <a:alphaModFix/>
          </a:blip>
          <a:srcRect b="23449" l="23449" r="23449" t="23449"/>
          <a:stretch/>
        </p:blipFill>
        <p:spPr>
          <a:xfrm>
            <a:off x="7201323" y="1508729"/>
            <a:ext cx="2438664" cy="2438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2D DFT</a:t>
            </a:r>
            <a:endParaRPr/>
          </a:p>
        </p:txBody>
      </p:sp>
      <p:sp>
        <p:nvSpPr>
          <p:cNvPr id="147" name="Google Shape;147;p5"/>
          <p:cNvSpPr txBox="1"/>
          <p:nvPr>
            <p:ph idx="1" type="body"/>
          </p:nvPr>
        </p:nvSpPr>
        <p:spPr>
          <a:xfrm>
            <a:off x="838200" y="1201271"/>
            <a:ext cx="11012096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Forward transform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Inverse transform: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i="1"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u</a:t>
            </a:r>
            <a:r>
              <a:rPr lang="en-US" sz="2200"/>
              <a:t>, </a:t>
            </a:r>
            <a:r>
              <a:rPr i="1" lang="en-US" sz="2200"/>
              <a:t>v </a:t>
            </a:r>
            <a:r>
              <a:rPr lang="en-US" sz="2200"/>
              <a:t>: the transform or frequency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x</a:t>
            </a:r>
            <a:r>
              <a:rPr lang="en-US" sz="2200"/>
              <a:t>,</a:t>
            </a:r>
            <a:r>
              <a:rPr i="1" lang="en-US" sz="2200"/>
              <a:t> y</a:t>
            </a:r>
            <a:r>
              <a:rPr lang="en-US" sz="2200"/>
              <a:t> : the spatial or image variables</a:t>
            </a:r>
            <a:endParaRPr/>
          </a:p>
        </p:txBody>
      </p:sp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0375" y="1114810"/>
            <a:ext cx="4443413" cy="86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7471" y="3783001"/>
            <a:ext cx="4763222" cy="131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7471" y="2071221"/>
            <a:ext cx="5360988" cy="129381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8888459" y="1160962"/>
            <a:ext cx="249391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a-periodic signal</a:t>
            </a:r>
            <a:b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transform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733788" y="2180218"/>
            <a:ext cx="32396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periodized signal</a:t>
            </a:r>
            <a:b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and sampled transform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2D Discrete Fourier Transform</a:t>
            </a:r>
            <a:endParaRPr/>
          </a:p>
        </p:txBody>
      </p:sp>
      <p:sp>
        <p:nvSpPr>
          <p:cNvPr id="159" name="Google Shape;159;p6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4500" lvl="0" marL="444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Char char="•"/>
            </a:pPr>
            <a:r>
              <a:rPr lang="en-US"/>
              <a:t>Represents an image in a frequency domain where the original image is represented in a spatial domain.</a:t>
            </a:r>
            <a:endParaRPr/>
          </a:p>
          <a:p>
            <a:pPr indent="-444500" lvl="0" marL="444500" rtl="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4350"/>
              <a:buChar char="•"/>
            </a:pPr>
            <a:r>
              <a:rPr lang="en-US"/>
              <a:t>2D DFT converts an image into a complex array that consists of :</a:t>
            </a:r>
            <a:endParaRPr/>
          </a:p>
          <a:p>
            <a:pPr indent="-177800" lvl="4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/>
              <a:t>Power Spectrum</a:t>
            </a:r>
            <a:endParaRPr/>
          </a:p>
          <a:p>
            <a:pPr indent="-177800" lvl="4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/>
              <a:t>Phase Angle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Magnitude and Phase of DFT</a:t>
            </a:r>
            <a:endParaRPr/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838200" y="1201271"/>
            <a:ext cx="10515600" cy="538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What is more important?</a:t>
            </a:r>
            <a:endParaRPr/>
          </a:p>
          <a:p>
            <a:pPr indent="-6413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6413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800" u="sng"/>
          </a:p>
          <a:p>
            <a:pPr indent="-6413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800" u="sng"/>
          </a:p>
          <a:p>
            <a:pPr indent="-6413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800" u="sng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2800">
                <a:solidFill>
                  <a:srgbClr val="FF0000"/>
                </a:solidFill>
              </a:rPr>
              <a:t>Hint</a:t>
            </a:r>
            <a:r>
              <a:rPr lang="en-US" sz="2800">
                <a:solidFill>
                  <a:srgbClr val="FFFF00"/>
                </a:solidFill>
              </a:rPr>
              <a:t>: </a:t>
            </a:r>
            <a:r>
              <a:rPr lang="en-US" sz="2800"/>
              <a:t>use the inverse 2D DFT to reconstruct the input image using only </a:t>
            </a:r>
            <a:r>
              <a:rPr lang="en-US" sz="2800">
                <a:solidFill>
                  <a:srgbClr val="FF0000"/>
                </a:solidFill>
              </a:rPr>
              <a:t>magnitude</a:t>
            </a:r>
            <a:r>
              <a:rPr lang="en-US" sz="2800"/>
              <a:t> or </a:t>
            </a:r>
            <a:r>
              <a:rPr lang="en-US" sz="2800">
                <a:solidFill>
                  <a:srgbClr val="FF0000"/>
                </a:solidFill>
              </a:rPr>
              <a:t>phase</a:t>
            </a:r>
            <a:r>
              <a:rPr lang="en-US" sz="2800"/>
              <a:t> information.</a:t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</p:txBody>
      </p:sp>
      <p:sp>
        <p:nvSpPr>
          <p:cNvPr id="168" name="Google Shape;168;p7"/>
          <p:cNvSpPr txBox="1"/>
          <p:nvPr/>
        </p:nvSpPr>
        <p:spPr>
          <a:xfrm>
            <a:off x="5400570" y="5266129"/>
            <a:ext cx="11493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magnitude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10024388" y="5310321"/>
            <a:ext cx="7048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</a:t>
            </a:r>
            <a:endParaRPr/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15" y="16002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16002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5516" y="1600200"/>
            <a:ext cx="3657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Magnitude and Phase of DFT (cont’d)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504303" y="4734342"/>
            <a:ext cx="4524897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Reconstructed image using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magnitude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magnitude determines the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 of each sinusoidal component)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671467" y="4827578"/>
            <a:ext cx="5016230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Reconstructed using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phase determines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phase of each sinusoidal component)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083" y="1130709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8093" y="1130709"/>
            <a:ext cx="3657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Fourier Transform</a:t>
            </a:r>
            <a:endParaRPr/>
          </a:p>
        </p:txBody>
      </p:sp>
      <p:sp>
        <p:nvSpPr>
          <p:cNvPr id="188" name="Google Shape;18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6.googleusercontent.com/rBNcKv1Jt3jklQpHAxIJeUe9XSwkwATeILnRWGRhqO-1axwYjgRjuITnt3hw0uXbJNilfav9zvKuz_-U8OFWXmHFxHVW_UOOJqCIybOZJqM3RA-GdkIHirrSv_t14jG5uoaI5VepQhvyIuioN-ekUg=s2048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023" y="1160046"/>
            <a:ext cx="2720833" cy="5539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YInDKsG0BIdRJ3CAl0jItZBSDAM0npl1zvp2JWr251VqpDK93F1GUUYFemTjf0amGXEpih1u5D6T6yNvjP_1nLn2Qv2IiVpeOmX-3cAhMS5bSglQEAznysM57mIcOYL3INGxviqGCse6pxDhiX1eIQ=s2048" id="190" name="Google Shape;1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8856" y="1162790"/>
            <a:ext cx="5422155" cy="5558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Basics of Filtering in the Frequency Domain</a:t>
            </a:r>
            <a:endParaRPr/>
          </a:p>
        </p:txBody>
      </p:sp>
      <p:sp>
        <p:nvSpPr>
          <p:cNvPr id="196" name="Google Shape;19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Gallery" id="197" name="Google Shape;197;p10"/>
          <p:cNvPicPr preferRelativeResize="0"/>
          <p:nvPr/>
        </p:nvPicPr>
        <p:blipFill rotWithShape="1">
          <a:blip r:embed="rId3">
            <a:alphaModFix/>
          </a:blip>
          <a:srcRect b="1951" l="0" r="0" t="1952"/>
          <a:stretch/>
        </p:blipFill>
        <p:spPr>
          <a:xfrm>
            <a:off x="4925444" y="4377070"/>
            <a:ext cx="2201796" cy="2115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Gallery" id="198" name="Google Shape;198;p10"/>
          <p:cNvPicPr preferRelativeResize="0"/>
          <p:nvPr/>
        </p:nvPicPr>
        <p:blipFill rotWithShape="1">
          <a:blip r:embed="rId4">
            <a:alphaModFix/>
          </a:blip>
          <a:srcRect b="1094" l="0" r="0" t="1094"/>
          <a:stretch/>
        </p:blipFill>
        <p:spPr>
          <a:xfrm>
            <a:off x="1178156" y="4384754"/>
            <a:ext cx="2201797" cy="2100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3-05-08 at 7.58.38 AM.png" id="199" name="Google Shape;199;p10"/>
          <p:cNvPicPr preferRelativeResize="0"/>
          <p:nvPr/>
        </p:nvPicPr>
        <p:blipFill rotWithShape="1">
          <a:blip r:embed="rId5">
            <a:alphaModFix/>
          </a:blip>
          <a:srcRect b="8005" l="0" r="0" t="8006"/>
          <a:stretch/>
        </p:blipFill>
        <p:spPr>
          <a:xfrm>
            <a:off x="838200" y="1384582"/>
            <a:ext cx="7057894" cy="291311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 txBox="1"/>
          <p:nvPr/>
        </p:nvSpPr>
        <p:spPr>
          <a:xfrm>
            <a:off x="2194694" y="3998050"/>
            <a:ext cx="7057894" cy="386704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Spectrum moved into the centre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7392" y="3643356"/>
            <a:ext cx="2548386" cy="256361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 txBox="1"/>
          <p:nvPr/>
        </p:nvSpPr>
        <p:spPr>
          <a:xfrm>
            <a:off x="9146795" y="3244334"/>
            <a:ext cx="7521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Basics of Filtering in the Frequency Domain</a:t>
            </a:r>
            <a:endParaRPr/>
          </a:p>
        </p:txBody>
      </p:sp>
      <p:sp>
        <p:nvSpPr>
          <p:cNvPr id="208" name="Google Shape;208;p11"/>
          <p:cNvSpPr txBox="1"/>
          <p:nvPr>
            <p:ph idx="1" type="body"/>
          </p:nvPr>
        </p:nvSpPr>
        <p:spPr>
          <a:xfrm>
            <a:off x="838200" y="1201271"/>
            <a:ext cx="10515600" cy="1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filter an image in the frequency domain: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Compute F(u,v) by  DFT of the image f(x,y).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Multiply F(u,v) by a filter function H(u,v).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Compute the inverse DFT of the result .</a:t>
            </a:r>
            <a:br>
              <a:rPr lang="en-US"/>
            </a:b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 b="9499" l="0" r="0" t="0"/>
          <a:stretch/>
        </p:blipFill>
        <p:spPr>
          <a:xfrm>
            <a:off x="1963205" y="2771864"/>
            <a:ext cx="8018995" cy="3584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Steps</a:t>
            </a:r>
            <a:endParaRPr/>
          </a:p>
        </p:txBody>
      </p:sp>
      <p:pic>
        <p:nvPicPr>
          <p:cNvPr id="216" name="Google Shape;216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0" r="0" t="-1955"/>
          <a:stretch/>
        </p:blipFill>
        <p:spPr>
          <a:xfrm>
            <a:off x="767088" y="1407459"/>
            <a:ext cx="11122386" cy="4464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Steps</a:t>
            </a:r>
            <a:endParaRPr/>
          </a:p>
        </p:txBody>
      </p:sp>
      <p:pic>
        <p:nvPicPr>
          <p:cNvPr id="223" name="Google Shape;22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811" y="1393696"/>
            <a:ext cx="7952087" cy="403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5" name="Google Shape;2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7811" y="5433688"/>
            <a:ext cx="10757647" cy="128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Implement These Steps</a:t>
            </a:r>
            <a:endParaRPr/>
          </a:p>
        </p:txBody>
      </p:sp>
      <p:pic>
        <p:nvPicPr>
          <p:cNvPr id="231" name="Google Shape;23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69232"/>
            <a:ext cx="6250342" cy="305669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5211" y="2016437"/>
            <a:ext cx="4415117" cy="339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Steps</a:t>
            </a:r>
            <a:endParaRPr/>
          </a:p>
        </p:txBody>
      </p:sp>
      <p:pic>
        <p:nvPicPr>
          <p:cNvPr id="239" name="Google Shape;23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48551" t="0"/>
          <a:stretch/>
        </p:blipFill>
        <p:spPr>
          <a:xfrm>
            <a:off x="1062319" y="1719205"/>
            <a:ext cx="6541668" cy="413474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1" name="Google Shape;241;p15"/>
          <p:cNvPicPr preferRelativeResize="0"/>
          <p:nvPr/>
        </p:nvPicPr>
        <p:blipFill rotWithShape="1">
          <a:blip r:embed="rId3">
            <a:alphaModFix/>
          </a:blip>
          <a:srcRect b="0" l="70418" r="0" t="0"/>
          <a:stretch/>
        </p:blipFill>
        <p:spPr>
          <a:xfrm>
            <a:off x="7723093" y="1719205"/>
            <a:ext cx="3761323" cy="4134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47" name="Google Shape;24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424" y="4159250"/>
            <a:ext cx="2652668" cy="26685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16"/>
          <p:cNvCxnSpPr/>
          <p:nvPr/>
        </p:nvCxnSpPr>
        <p:spPr>
          <a:xfrm flipH="1" rot="10800000">
            <a:off x="5462092" y="5220575"/>
            <a:ext cx="4998300" cy="1272300"/>
          </a:xfrm>
          <a:prstGeom prst="bentConnector3">
            <a:avLst>
              <a:gd fmla="val 10000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0" name="Google Shape;250;p16"/>
          <p:cNvCxnSpPr/>
          <p:nvPr/>
        </p:nvCxnSpPr>
        <p:spPr>
          <a:xfrm flipH="1" rot="10800000">
            <a:off x="8919937" y="5245736"/>
            <a:ext cx="1540418" cy="3411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1" name="Google Shape;251;p16"/>
          <p:cNvCxnSpPr/>
          <p:nvPr/>
        </p:nvCxnSpPr>
        <p:spPr>
          <a:xfrm>
            <a:off x="7570562" y="2835275"/>
            <a:ext cx="0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2" name="Google Shape;252;p16"/>
          <p:cNvCxnSpPr/>
          <p:nvPr/>
        </p:nvCxnSpPr>
        <p:spPr>
          <a:xfrm>
            <a:off x="5410743" y="2339346"/>
            <a:ext cx="2159819" cy="105910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3" name="Google Shape;253;p16"/>
          <p:cNvCxnSpPr/>
          <p:nvPr/>
        </p:nvCxnSpPr>
        <p:spPr>
          <a:xfrm flipH="1" rot="10800000">
            <a:off x="2524760" y="3088640"/>
            <a:ext cx="233314" cy="8077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2524760" y="3896360"/>
            <a:ext cx="284664" cy="9093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55" name="Google Shape;255;p16"/>
          <p:cNvSpPr txBox="1"/>
          <p:nvPr/>
        </p:nvSpPr>
        <p:spPr>
          <a:xfrm>
            <a:off x="1090235" y="1391684"/>
            <a:ext cx="1719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spectrum</a:t>
            </a:r>
            <a:endParaRPr/>
          </a:p>
        </p:txBody>
      </p:sp>
      <p:sp>
        <p:nvSpPr>
          <p:cNvPr id="256" name="Google Shape;256;p16"/>
          <p:cNvSpPr txBox="1"/>
          <p:nvPr/>
        </p:nvSpPr>
        <p:spPr>
          <a:xfrm>
            <a:off x="2013960" y="5987018"/>
            <a:ext cx="744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8991600" y="1346650"/>
            <a:ext cx="1248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Notch filter</a:t>
            </a:r>
            <a:endParaRPr/>
          </a:p>
        </p:txBody>
      </p:sp>
      <p:pic>
        <p:nvPicPr>
          <p:cNvPr id="258" name="Google Shape;2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99" y="2517414"/>
            <a:ext cx="2455200" cy="25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1015" y="1138844"/>
            <a:ext cx="2602922" cy="269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0652" y="457819"/>
            <a:ext cx="2346216" cy="2346216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tl" dir="2700000" dist="50800">
              <a:srgbClr val="000000">
                <a:alpha val="40000"/>
              </a:srgbClr>
            </a:outerShdw>
          </a:effectLst>
        </p:spPr>
      </p:pic>
      <p:pic>
        <p:nvPicPr>
          <p:cNvPr id="261" name="Google Shape;26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654" y="3407220"/>
            <a:ext cx="2407902" cy="2407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1672" y="2765290"/>
            <a:ext cx="2397652" cy="2397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Notch Filter</a:t>
            </a:r>
            <a:endParaRPr/>
          </a:p>
        </p:txBody>
      </p:sp>
      <p:sp>
        <p:nvSpPr>
          <p:cNvPr id="268" name="Google Shape;268;p17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A notch filter rejects (or passes) frequencies in a predefined neighborhood about the center of the frequency rectangle.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A notch is symmetric about the origin (center of the frequency rectangle)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One with center at (u</a:t>
            </a:r>
            <a:r>
              <a:rPr baseline="-25000" lang="en-US"/>
              <a:t>0</a:t>
            </a:r>
            <a:r>
              <a:rPr lang="en-US"/>
              <a:t>, v</a:t>
            </a:r>
            <a:r>
              <a:rPr baseline="-25000" lang="en-US"/>
              <a:t>0</a:t>
            </a:r>
            <a:r>
              <a:rPr lang="en-US"/>
              <a:t>) must have a corresponding notch at location (-u</a:t>
            </a:r>
            <a:r>
              <a:rPr baseline="-25000" lang="en-US"/>
              <a:t>0</a:t>
            </a:r>
            <a:r>
              <a:rPr lang="en-US"/>
              <a:t>, -v</a:t>
            </a:r>
            <a:r>
              <a:rPr baseline="-25000" lang="en-US"/>
              <a:t>0</a:t>
            </a:r>
            <a:r>
              <a:rPr lang="en-US"/>
              <a:t>)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 sz="4400"/>
              <a:t>Gaussian notch reject filter</a:t>
            </a:r>
            <a:endParaRPr/>
          </a:p>
        </p:txBody>
      </p:sp>
      <p:sp>
        <p:nvSpPr>
          <p:cNvPr id="275" name="Google Shape;27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6" name="Google Shape;2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975" y="2524078"/>
            <a:ext cx="4645025" cy="110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9986" y="1669968"/>
            <a:ext cx="4447382" cy="2991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Classwork </a:t>
            </a:r>
            <a:endParaRPr/>
          </a:p>
        </p:txBody>
      </p:sp>
      <p:sp>
        <p:nvSpPr>
          <p:cNvPr id="283" name="Google Shape;283;p19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Take an input grayscale image and apply Notch reject filters on the Fourier domain to remove periodic noise from the image.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Compute DFT F(u,v) for the input image.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Show the power spectrum of F(u,v)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Select the coordinates from the spectrum which you want to remove.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Generate the Notch reject filter around the coordinate(= center) to reject that specific frequency as H(u,v). The radius of the Notch will be user input. Show H(u,v).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Form the product G(u,v) = F(u,v)H(u,v).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Apply Inverse Fourier Transform to generate the output image in the spatial domain.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600"/>
              <a:buFont typeface="Times New Roman"/>
              <a:buNone/>
            </a:pPr>
            <a:r>
              <a:rPr lang="en-US" sz="3600"/>
              <a:t>Gaussian Notch Reject Filter</a:t>
            </a:r>
            <a:endParaRPr/>
          </a:p>
        </p:txBody>
      </p:sp>
      <p:sp>
        <p:nvSpPr>
          <p:cNvPr id="290" name="Google Shape;29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  <p:sp>
        <p:nvSpPr>
          <p:cNvPr id="291" name="Google Shape;291;p20"/>
          <p:cNvSpPr txBox="1"/>
          <p:nvPr/>
        </p:nvSpPr>
        <p:spPr>
          <a:xfrm>
            <a:off x="6943165" y="1310091"/>
            <a:ext cx="5091954" cy="5171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3530" l="0" r="-3114" t="-3882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6943165" y="1936710"/>
            <a:ext cx="5091955" cy="5171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3530" l="0" r="-4671" t="-3882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93" name="Google Shape;293;p20"/>
          <p:cNvPicPr preferRelativeResize="0"/>
          <p:nvPr/>
        </p:nvPicPr>
        <p:blipFill rotWithShape="1">
          <a:blip r:embed="rId5">
            <a:alphaModFix/>
          </a:blip>
          <a:srcRect b="0" l="26224" r="19724" t="42789"/>
          <a:stretch/>
        </p:blipFill>
        <p:spPr>
          <a:xfrm>
            <a:off x="616662" y="1307990"/>
            <a:ext cx="6326503" cy="1471823"/>
          </a:xfrm>
          <a:prstGeom prst="rect">
            <a:avLst/>
          </a:prstGeom>
          <a:solidFill>
            <a:srgbClr val="FBE4D4"/>
          </a:solidFill>
          <a:ln>
            <a:noFill/>
          </a:ln>
        </p:spPr>
      </p:pic>
      <p:pic>
        <p:nvPicPr>
          <p:cNvPr id="294" name="Google Shape;29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149670"/>
            <a:ext cx="9531341" cy="3494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Classwork B1</a:t>
            </a:r>
            <a:endParaRPr/>
          </a:p>
        </p:txBody>
      </p:sp>
      <p:sp>
        <p:nvSpPr>
          <p:cNvPr id="300" name="Google Shape;30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1" name="Google Shape;3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8075" y="1013012"/>
            <a:ext cx="2652668" cy="265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080" y="2700020"/>
            <a:ext cx="2392680" cy="239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9424" y="4159250"/>
            <a:ext cx="2652668" cy="26685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21"/>
          <p:cNvCxnSpPr/>
          <p:nvPr/>
        </p:nvCxnSpPr>
        <p:spPr>
          <a:xfrm flipH="1" rot="10800000">
            <a:off x="5462092" y="5220575"/>
            <a:ext cx="4998300" cy="1272300"/>
          </a:xfrm>
          <a:prstGeom prst="bentConnector3">
            <a:avLst>
              <a:gd fmla="val 10000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5" name="Google Shape;305;p21"/>
          <p:cNvCxnSpPr/>
          <p:nvPr/>
        </p:nvCxnSpPr>
        <p:spPr>
          <a:xfrm flipH="1" rot="10800000">
            <a:off x="8719980" y="5245737"/>
            <a:ext cx="1740375" cy="27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6" name="Google Shape;306;p21"/>
          <p:cNvCxnSpPr/>
          <p:nvPr/>
        </p:nvCxnSpPr>
        <p:spPr>
          <a:xfrm>
            <a:off x="7570562" y="2835275"/>
            <a:ext cx="0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7" name="Google Shape;307;p21"/>
          <p:cNvCxnSpPr>
            <a:stCxn id="301" idx="3"/>
          </p:cNvCxnSpPr>
          <p:nvPr/>
        </p:nvCxnSpPr>
        <p:spPr>
          <a:xfrm>
            <a:off x="5410743" y="2339346"/>
            <a:ext cx="2159700" cy="105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8" name="Google Shape;308;p21"/>
          <p:cNvCxnSpPr>
            <a:stCxn id="302" idx="3"/>
          </p:cNvCxnSpPr>
          <p:nvPr/>
        </p:nvCxnSpPr>
        <p:spPr>
          <a:xfrm flipH="1" rot="10800000">
            <a:off x="2524760" y="3088760"/>
            <a:ext cx="233400" cy="80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9" name="Google Shape;309;p21"/>
          <p:cNvCxnSpPr>
            <a:stCxn id="302" idx="3"/>
          </p:cNvCxnSpPr>
          <p:nvPr/>
        </p:nvCxnSpPr>
        <p:spPr>
          <a:xfrm>
            <a:off x="2524760" y="3896360"/>
            <a:ext cx="284700" cy="90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10" name="Google Shape;310;p21"/>
          <p:cNvSpPr txBox="1"/>
          <p:nvPr/>
        </p:nvSpPr>
        <p:spPr>
          <a:xfrm>
            <a:off x="1090235" y="1391684"/>
            <a:ext cx="1719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spectrum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2013960" y="5987018"/>
            <a:ext cx="744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8991600" y="1346650"/>
            <a:ext cx="1248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Notch filter</a:t>
            </a:r>
            <a:endParaRPr/>
          </a:p>
        </p:txBody>
      </p:sp>
      <p:pic>
        <p:nvPicPr>
          <p:cNvPr id="313" name="Google Shape;31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0652" y="483307"/>
            <a:ext cx="2465349" cy="24653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4" name="Google Shape;31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59875" y="2213612"/>
            <a:ext cx="3032125" cy="30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15964" y="3453672"/>
            <a:ext cx="2704016" cy="2704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Classwork</a:t>
            </a:r>
            <a:endParaRPr/>
          </a:p>
        </p:txBody>
      </p:sp>
      <p:sp>
        <p:nvSpPr>
          <p:cNvPr id="321" name="Google Shape;32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1948780" y="5285527"/>
            <a:ext cx="32945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Removing frequency at (272,256) &amp; (261,261) , D0 = 20, n=2</a:t>
            </a:r>
            <a:endParaRPr/>
          </a:p>
        </p:txBody>
      </p:sp>
      <p:pic>
        <p:nvPicPr>
          <p:cNvPr id="323" name="Google Shape;3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844675"/>
            <a:ext cx="3294529" cy="329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8961" y="1844675"/>
            <a:ext cx="3294529" cy="329452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 txBox="1"/>
          <p:nvPr/>
        </p:nvSpPr>
        <p:spPr>
          <a:xfrm>
            <a:off x="6172201" y="5280322"/>
            <a:ext cx="32945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Removing frequency at (272,256) &amp; (261,261) , D0 = 5, n=2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 txBox="1"/>
          <p:nvPr>
            <p:ph type="title"/>
          </p:nvPr>
        </p:nvSpPr>
        <p:spPr>
          <a:xfrm>
            <a:off x="4795167" y="2624774"/>
            <a:ext cx="3046506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Assignments</a:t>
            </a:r>
            <a:endParaRPr/>
          </a:p>
        </p:txBody>
      </p:sp>
      <p:sp>
        <p:nvSpPr>
          <p:cNvPr id="331" name="Google Shape;33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Mean Filters</a:t>
            </a:r>
            <a:endParaRPr/>
          </a:p>
        </p:txBody>
      </p:sp>
      <p:sp>
        <p:nvSpPr>
          <p:cNvPr id="338" name="Google Shape;338;p24"/>
          <p:cNvSpPr txBox="1"/>
          <p:nvPr>
            <p:ph idx="1" type="body"/>
          </p:nvPr>
        </p:nvSpPr>
        <p:spPr>
          <a:xfrm>
            <a:off x="838200" y="1181100"/>
            <a:ext cx="107442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</a:t>
            </a:r>
            <a:r>
              <a:rPr b="1" i="1" lang="en-US">
                <a:solidFill>
                  <a:srgbClr val="FF0000"/>
                </a:solidFill>
              </a:rPr>
              <a:t>Arithmetic</a:t>
            </a:r>
            <a:r>
              <a:rPr b="1" lang="en-US">
                <a:solidFill>
                  <a:srgbClr val="FF0000"/>
                </a:solidFill>
              </a:rPr>
              <a:t> </a:t>
            </a:r>
            <a:r>
              <a:rPr b="1" i="1" lang="en-US">
                <a:solidFill>
                  <a:srgbClr val="FF0000"/>
                </a:solidFill>
              </a:rPr>
              <a:t>Mean</a:t>
            </a:r>
            <a:r>
              <a:rPr b="1" lang="en-US">
                <a:solidFill>
                  <a:srgbClr val="FF0000"/>
                </a:solidFill>
              </a:rPr>
              <a:t> Filter (AMF) </a:t>
            </a:r>
            <a:r>
              <a:rPr lang="en-US"/>
              <a:t>is a very simple one and is calculated as follows: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339" name="Google Shape;3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499" y="1970881"/>
            <a:ext cx="4224338" cy="12779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0" name="Google Shape;340;p24"/>
          <p:cNvGraphicFramePr/>
          <p:nvPr/>
        </p:nvGraphicFramePr>
        <p:xfrm>
          <a:off x="8153400" y="23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{E13B446C-D852-4E70-87AE-737057B11682}</a:tableStyleId>
              </a:tblPr>
              <a:tblGrid>
                <a:gridCol w="685800"/>
                <a:gridCol w="685800"/>
                <a:gridCol w="685800"/>
              </a:tblGrid>
              <a:tr h="657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baseline="-2500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baseline="-2500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baseline="-2500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baseline="-2500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baseline="-2500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baseline="-2500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baseline="-2500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baseline="30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baseline="-2500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baseline="-2500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1" name="Google Shape;341;p24"/>
          <p:cNvSpPr/>
          <p:nvPr/>
        </p:nvSpPr>
        <p:spPr>
          <a:xfrm>
            <a:off x="1093694" y="3656748"/>
            <a:ext cx="47423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𝑆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𝑥𝑦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set of coordinates in a rectangular 𝑚×𝑛 window centered at (𝑥,𝑦) </a:t>
            </a:r>
            <a:endParaRPr/>
          </a:p>
        </p:txBody>
      </p:sp>
      <p:pic>
        <p:nvPicPr>
          <p:cNvPr id="342" name="Google Shape;3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4239" y="4690667"/>
            <a:ext cx="4538161" cy="203080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Mean Filters</a:t>
            </a:r>
            <a:endParaRPr b="1"/>
          </a:p>
        </p:txBody>
      </p:sp>
      <p:pic>
        <p:nvPicPr>
          <p:cNvPr id="350" name="Google Shape;35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823" y="1066800"/>
            <a:ext cx="9304721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5"/>
          <p:cNvSpPr txBox="1"/>
          <p:nvPr/>
        </p:nvSpPr>
        <p:spPr>
          <a:xfrm>
            <a:off x="7620000" y="3810000"/>
            <a:ext cx="2317750" cy="366713"/>
          </a:xfrm>
          <a:prstGeom prst="rect">
            <a:avLst/>
          </a:prstGeom>
          <a:solidFill>
            <a:srgbClr val="EFF98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 the order of filter</a:t>
            </a:r>
            <a:endParaRPr/>
          </a:p>
        </p:txBody>
      </p:sp>
      <p:sp>
        <p:nvSpPr>
          <p:cNvPr id="352" name="Google Shape;35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Mean Filters</a:t>
            </a:r>
            <a:endParaRPr/>
          </a:p>
        </p:txBody>
      </p:sp>
      <p:pic>
        <p:nvPicPr>
          <p:cNvPr id="358" name="Google Shape;3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038" y="1063626"/>
            <a:ext cx="7315036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6"/>
          <p:cNvSpPr txBox="1"/>
          <p:nvPr/>
        </p:nvSpPr>
        <p:spPr>
          <a:xfrm>
            <a:off x="2874169" y="1156179"/>
            <a:ext cx="1547812" cy="369332"/>
          </a:xfrm>
          <a:prstGeom prst="rect">
            <a:avLst/>
          </a:prstGeom>
          <a:solidFill>
            <a:srgbClr val="B3C6E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pepper noise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8967788" y="1217058"/>
            <a:ext cx="1547813" cy="369332"/>
          </a:xfrm>
          <a:prstGeom prst="rect">
            <a:avLst/>
          </a:prstGeom>
          <a:solidFill>
            <a:srgbClr val="B3C6E7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salt noise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666875" y="5013325"/>
            <a:ext cx="1836738" cy="915988"/>
          </a:xfrm>
          <a:prstGeom prst="rect">
            <a:avLst/>
          </a:prstGeom>
          <a:solidFill>
            <a:srgbClr val="B3C6E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3x3 Contraharmonic Q=1.5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8831264" y="5121275"/>
            <a:ext cx="1836737" cy="915988"/>
          </a:xfrm>
          <a:prstGeom prst="rect">
            <a:avLst/>
          </a:prstGeom>
          <a:solidFill>
            <a:srgbClr val="B3C6E7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3x3 Contraharmonic Q=-1.5</a:t>
            </a:r>
            <a:endParaRPr/>
          </a:p>
        </p:txBody>
      </p:sp>
      <p:cxnSp>
        <p:nvCxnSpPr>
          <p:cNvPr id="363" name="Google Shape;363;p26"/>
          <p:cNvCxnSpPr/>
          <p:nvPr/>
        </p:nvCxnSpPr>
        <p:spPr>
          <a:xfrm flipH="1" rot="10800000">
            <a:off x="3216275" y="5192714"/>
            <a:ext cx="431800" cy="730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26"/>
          <p:cNvCxnSpPr/>
          <p:nvPr/>
        </p:nvCxnSpPr>
        <p:spPr>
          <a:xfrm rot="10800000">
            <a:off x="8651875" y="5192713"/>
            <a:ext cx="215900" cy="36036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Order Statistics Filters</a:t>
            </a:r>
            <a:endParaRPr/>
          </a:p>
        </p:txBody>
      </p:sp>
      <p:sp>
        <p:nvSpPr>
          <p:cNvPr id="371" name="Google Shape;371;p27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•"/>
            </a:pPr>
            <a:r>
              <a:rPr b="1" lang="en-US">
                <a:solidFill>
                  <a:srgbClr val="0000FF"/>
                </a:solidFill>
              </a:rPr>
              <a:t>Median Filter </a:t>
            </a:r>
            <a:r>
              <a:rPr lang="en-US"/>
              <a:t>- Most popular and useful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Selects the middle pixel value from the ordered set of values within the m × n neighborhood (W) around a reference pixel.</a:t>
            </a:r>
            <a:endParaRPr/>
          </a:p>
          <a:p>
            <a:pPr indent="-1587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mn is even, the average of the two closest to the middle of the ordered set is used instead.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Many variants, extensions, and optimized implementations in the literature.</a:t>
            </a:r>
            <a:endParaRPr/>
          </a:p>
        </p:txBody>
      </p:sp>
      <p:pic>
        <p:nvPicPr>
          <p:cNvPr id="372" name="Google Shape;372;p27"/>
          <p:cNvPicPr preferRelativeResize="0"/>
          <p:nvPr/>
        </p:nvPicPr>
        <p:blipFill rotWithShape="1">
          <a:blip r:embed="rId3">
            <a:alphaModFix/>
          </a:blip>
          <a:srcRect b="62848" l="0" r="0" t="0"/>
          <a:stretch/>
        </p:blipFill>
        <p:spPr>
          <a:xfrm>
            <a:off x="2209800" y="3581398"/>
            <a:ext cx="7803822" cy="883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1" y="4374393"/>
            <a:ext cx="4835773" cy="1143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Order Statistics Filters</a:t>
            </a:r>
            <a:endParaRPr b="1"/>
          </a:p>
        </p:txBody>
      </p:sp>
      <p:pic>
        <p:nvPicPr>
          <p:cNvPr id="381" name="Google Shape;381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167" y="1371600"/>
            <a:ext cx="9802134" cy="29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/>
          <p:nvPr/>
        </p:nvSpPr>
        <p:spPr>
          <a:xfrm>
            <a:off x="3276601" y="4876800"/>
            <a:ext cx="2212633" cy="369332"/>
          </a:xfrm>
          <a:prstGeom prst="rect">
            <a:avLst/>
          </a:prstGeom>
          <a:solidFill>
            <a:srgbClr val="E0F32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Gaussian + Impulse</a:t>
            </a:r>
            <a:endParaRPr/>
          </a:p>
        </p:txBody>
      </p:sp>
      <p:sp>
        <p:nvSpPr>
          <p:cNvPr id="383" name="Google Shape;3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Output Format</a:t>
            </a:r>
            <a:endParaRPr/>
          </a:p>
        </p:txBody>
      </p:sp>
      <p:sp>
        <p:nvSpPr>
          <p:cNvPr id="389" name="Google Shape;38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90" name="Google Shape;390;p29"/>
          <p:cNvGraphicFramePr/>
          <p:nvPr/>
        </p:nvGraphicFramePr>
        <p:xfrm>
          <a:off x="838200" y="12874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{697CEAA2-1C69-464A-9515-3C0892B0C766}</a:tableStyleId>
              </a:tblPr>
              <a:tblGrid>
                <a:gridCol w="3460375"/>
                <a:gridCol w="3460375"/>
                <a:gridCol w="3460375"/>
              </a:tblGrid>
              <a:tr h="111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Corrupted Image with noise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Filters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 after applying filter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5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Salt and Pepper Input Image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880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Salt and Pepper Input Image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CMF (With different Q)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1003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Salt and Pepper Input Image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Filter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111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Salt and Pepper Input Image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Alpha-trimmed Mean Filter (With different d)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96" name="Google Shape;396;p30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https://www.amritaryal.com.np/posts/categories/mathematics-and-engineering/2.html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https://contra.medium.com/drawing-anything-with-fourier-series-using-blender-and-python-c0881e1b738c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97" name="Google Shape;39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2022-03-22T12:35:29Z</dcterms:created>
  <dc:creator>Sunanda_Das</dc:creator>
</cp:coreProperties>
</file>